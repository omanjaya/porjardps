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8" roundtripDataSignature="AMtx7mjbEc+eOak/OEV8GIKgj1dkzWO/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5ac1690ca_0_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g3c5ac1690ca_0_1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5ac1690ca_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5ac1690ca_0_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fff6f47df_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fff6f47df_0_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2"/>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2"/>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3"/>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3"/>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4"/>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5"/>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4166552" y="2590800"/>
            <a:ext cx="3858895" cy="598241"/>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None/>
            </a:pPr>
            <a:r>
              <a:rPr lang="en-US" sz="3800"/>
              <a:t>PERATURAN SMA</a:t>
            </a:r>
            <a:endParaRPr sz="3800"/>
          </a:p>
        </p:txBody>
      </p:sp>
      <p:sp>
        <p:nvSpPr>
          <p:cNvPr id="45" name="Google Shape;45;p1"/>
          <p:cNvSpPr txBox="1"/>
          <p:nvPr/>
        </p:nvSpPr>
        <p:spPr>
          <a:xfrm>
            <a:off x="4128453" y="1713499"/>
            <a:ext cx="3858894" cy="56682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HONOR OF KINGS</a:t>
            </a:r>
            <a:endParaRPr sz="3600">
              <a:latin typeface="Trebuchet MS"/>
              <a:ea typeface="Trebuchet MS"/>
              <a:cs typeface="Trebuchet MS"/>
              <a:sym typeface="Trebuchet MS"/>
            </a:endParaRPr>
          </a:p>
        </p:txBody>
      </p:sp>
      <p:sp>
        <p:nvSpPr>
          <p:cNvPr id="46" name="Google Shape;46;p1"/>
          <p:cNvSpPr txBox="1"/>
          <p:nvPr/>
        </p:nvSpPr>
        <p:spPr>
          <a:xfrm>
            <a:off x="1524000" y="3810000"/>
            <a:ext cx="9067800"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PORJAR KOTA DENPASAR 2026</a:t>
            </a:r>
            <a:endParaRPr sz="36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g3c5ac1690ca_0_1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g3c5ac1690ca_0_12"/>
          <p:cNvSpPr txBox="1"/>
          <p:nvPr>
            <p:ph type="title"/>
          </p:nvPr>
        </p:nvSpPr>
        <p:spPr>
          <a:xfrm>
            <a:off x="3025140" y="566420"/>
            <a:ext cx="6141600" cy="531600"/>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None/>
            </a:pPr>
            <a:r>
              <a:rPr lang="en-US" sz="2800"/>
              <a:t>PERATURAN UMUM</a:t>
            </a:r>
            <a:endParaRPr sz="2800"/>
          </a:p>
        </p:txBody>
      </p:sp>
      <p:sp>
        <p:nvSpPr>
          <p:cNvPr id="53" name="Google Shape;53;g3c5ac1690ca_0_12"/>
          <p:cNvSpPr txBox="1"/>
          <p:nvPr/>
        </p:nvSpPr>
        <p:spPr>
          <a:xfrm>
            <a:off x="1382395" y="1371600"/>
            <a:ext cx="9438000" cy="4833300"/>
          </a:xfrm>
          <a:prstGeom prst="rect">
            <a:avLst/>
          </a:prstGeom>
          <a:noFill/>
          <a:ln>
            <a:noFill/>
          </a:ln>
        </p:spPr>
        <p:txBody>
          <a:bodyPr anchorCtr="0" anchor="t" bIns="0" lIns="0" spcFirstLastPara="1" rIns="0" wrap="square" tIns="133975">
            <a:spAutoFit/>
          </a:bodyPr>
          <a:lstStyle/>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diwajibkan untuk mengerti dan mengikuti seluruh peraturan yang berlaku.</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83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Semua peserta wajib berada di area pertandingan.</a:t>
            </a:r>
            <a:endParaRPr sz="1600">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tidak diizinkan untuk menggunakan dan memakai bug dengan sengaja.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PERATURAN UMUM</a:t>
            </a:r>
            <a:endParaRPr sz="2800"/>
          </a:p>
        </p:txBody>
      </p:sp>
      <p:sp>
        <p:nvSpPr>
          <p:cNvPr id="60" name="Google Shape;60;p3"/>
          <p:cNvSpPr txBox="1"/>
          <p:nvPr/>
        </p:nvSpPr>
        <p:spPr>
          <a:xfrm>
            <a:off x="2296426" y="1511300"/>
            <a:ext cx="7679700" cy="5290500"/>
          </a:xfrm>
          <a:prstGeom prst="rect">
            <a:avLst/>
          </a:prstGeom>
          <a:noFill/>
          <a:ln>
            <a:noFill/>
          </a:ln>
        </p:spPr>
        <p:txBody>
          <a:bodyPr anchorCtr="0" anchor="t" bIns="0" lIns="0" spcFirstLastPara="1" rIns="0" wrap="square" tIns="12700">
            <a:spAutoFit/>
          </a:bodyPr>
          <a:lstStyle/>
          <a:p>
            <a:pPr indent="-342900" lvl="0" marL="3556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Panitia bisa memberikan diskualifikasi kepada peserta selama turnamen</a:t>
            </a:r>
            <a:endParaRPr sz="2000">
              <a:latin typeface="Times New Roman"/>
              <a:ea typeface="Times New Roman"/>
              <a:cs typeface="Times New Roman"/>
              <a:sym typeface="Times New Roman"/>
            </a:endParaRPr>
          </a:p>
          <a:p>
            <a:pPr indent="-342900" lvl="0" marL="355600" rtl="0" algn="l">
              <a:lnSpc>
                <a:spcPct val="150000"/>
              </a:lnSpc>
              <a:spcBef>
                <a:spcPts val="100"/>
              </a:spcBef>
              <a:spcAft>
                <a:spcPts val="0"/>
              </a:spcAft>
              <a:buSzPts val="2000"/>
              <a:buFont typeface="Calibri"/>
              <a:buAutoNum type="arabicPeriod"/>
            </a:pPr>
            <a:r>
              <a:rPr lang="en-US" sz="2000">
                <a:latin typeface="Times New Roman"/>
                <a:ea typeface="Times New Roman"/>
                <a:cs typeface="Times New Roman"/>
                <a:sym typeface="Times New Roman"/>
              </a:rPr>
              <a:t>sewaktu-waktu jika ada tindakan yang melanggar peraturan dan kelakuan buruk oleh peserta.</a:t>
            </a:r>
            <a:endParaRPr/>
          </a:p>
          <a:p>
            <a:pPr indent="-342900" lvl="0" marL="356235" marR="823594" rtl="0" algn="l">
              <a:lnSpc>
                <a:spcPct val="150000"/>
              </a:lnSpc>
              <a:spcBef>
                <a:spcPts val="1445"/>
              </a:spcBef>
              <a:spcAft>
                <a:spcPts val="0"/>
              </a:spcAft>
              <a:buSzPts val="2000"/>
              <a:buFont typeface="Calibri"/>
              <a:buAutoNum type="arabicPeriod"/>
            </a:pPr>
            <a:r>
              <a:rPr lang="en-US" sz="2000">
                <a:latin typeface="Times New Roman"/>
                <a:ea typeface="Times New Roman"/>
                <a:cs typeface="Times New Roman"/>
                <a:sym typeface="Times New Roman"/>
              </a:rPr>
              <a:t>Hanya Ketua atau Perwakilan Team yang bergabung dalam Group Whatsapp.</a:t>
            </a:r>
            <a:endParaRPr/>
          </a:p>
          <a:p>
            <a:pPr indent="-342900" lvl="0" marL="35623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Peserta diwajibkan untuk berada di sekitar area pertandingan.</a:t>
            </a:r>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Setelah menyelesaikan pertandingan, segera kirim screenshoot hasil pertandingan</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PANITIA HANYA MENYEDIAKAN CUK ROLL SUMBER</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Times New Roman"/>
              <a:buAutoNum type="arabicPeriod"/>
            </a:pPr>
            <a:r>
              <a:rPr lang="en-US" sz="2000">
                <a:latin typeface="Times New Roman"/>
                <a:ea typeface="Times New Roman"/>
                <a:cs typeface="Times New Roman"/>
                <a:sym typeface="Times New Roman"/>
              </a:rPr>
              <a:t>Koneksi internet ditanggung olah peserta </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None/>
            </a:pPr>
            <a:r>
              <a:rPr lang="en-US" sz="2800">
                <a:solidFill>
                  <a:srgbClr val="222222"/>
                </a:solidFill>
              </a:rPr>
              <a:t>KETENTUAN	PESERTA</a:t>
            </a:r>
            <a:endParaRPr sz="2800"/>
          </a:p>
        </p:txBody>
      </p:sp>
      <p:sp>
        <p:nvSpPr>
          <p:cNvPr id="67" name="Google Shape;67;p4"/>
          <p:cNvSpPr txBox="1"/>
          <p:nvPr/>
        </p:nvSpPr>
        <p:spPr>
          <a:xfrm>
            <a:off x="2023745" y="1828800"/>
            <a:ext cx="7880400" cy="3823200"/>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SzPts val="2000"/>
              <a:buFont typeface="Times New Roman"/>
              <a:buAutoNum type="arabicPeriod"/>
            </a:pPr>
            <a:r>
              <a:rPr lang="en-US" sz="2000">
                <a:latin typeface="Times New Roman"/>
                <a:ea typeface="Times New Roman"/>
                <a:cs typeface="Times New Roman"/>
                <a:sym typeface="Times New Roman"/>
              </a:rPr>
              <a:t>Komposisi pemain dalam satu tim wajib siswa aktif dari satu sekolah yang sama</a:t>
            </a:r>
            <a:endParaRPr/>
          </a:p>
          <a:p>
            <a:pPr indent="-457200" lvl="0" marL="469900" marR="5080" rtl="0" algn="just">
              <a:lnSpc>
                <a:spcPct val="150000"/>
              </a:lnSpc>
              <a:spcBef>
                <a:spcPts val="700"/>
              </a:spcBef>
              <a:spcAft>
                <a:spcPts val="0"/>
              </a:spcAft>
              <a:buSzPts val="2000"/>
              <a:buFont typeface="Times New Roman"/>
              <a:buAutoNum type="arabicPeriod"/>
            </a:pPr>
            <a:r>
              <a:rPr lang="en-US" sz="2000">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sz="2000">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SzPts val="2000"/>
              <a:buFont typeface="Times New Roman"/>
              <a:buAutoNum type="arabicPeriod"/>
            </a:pPr>
            <a:r>
              <a:rPr lang="en-US" sz="2000">
                <a:latin typeface="Times New Roman"/>
                <a:ea typeface="Times New Roman"/>
                <a:cs typeface="Times New Roman"/>
                <a:sym typeface="Times New Roman"/>
              </a:rPr>
              <a:t>Peserta wajib membawa penanda identitas diri yaitu KARTU PELAJAR/ RAPOT DAN SURAT KETERANGAN SEKOLAH</a:t>
            </a:r>
            <a:endParaRPr sz="2000">
              <a:latin typeface="Times New Roman"/>
              <a:ea typeface="Times New Roman"/>
              <a:cs typeface="Times New Roman"/>
              <a:sym typeface="Times New Roman"/>
            </a:endParaRPr>
          </a:p>
          <a:p>
            <a:pPr indent="-457200" lvl="0" marL="469900" rtl="0" algn="just">
              <a:lnSpc>
                <a:spcPct val="150000"/>
              </a:lnSpc>
              <a:spcBef>
                <a:spcPts val="700"/>
              </a:spcBef>
              <a:spcAft>
                <a:spcPts val="0"/>
              </a:spcAft>
              <a:buSzPts val="2000"/>
              <a:buFont typeface="Times New Roman"/>
              <a:buAutoNum type="arabicPeriod"/>
            </a:pPr>
            <a:r>
              <a:rPr lang="en-US" sz="2000">
                <a:latin typeface="Times New Roman"/>
                <a:ea typeface="Times New Roman"/>
                <a:cs typeface="Times New Roman"/>
                <a:sym typeface="Times New Roman"/>
              </a:rPr>
              <a:t>Setiap Pemain hanya bisa bermain di satu tim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74" name="Google Shape;74;p5"/>
          <p:cNvSpPr txBox="1"/>
          <p:nvPr/>
        </p:nvSpPr>
        <p:spPr>
          <a:xfrm>
            <a:off x="2015450" y="1193900"/>
            <a:ext cx="8931000" cy="5493300"/>
          </a:xfrm>
          <a:prstGeom prst="rect">
            <a:avLst/>
          </a:prstGeom>
          <a:noFill/>
          <a:ln>
            <a:noFill/>
          </a:ln>
        </p:spPr>
        <p:txBody>
          <a:bodyPr anchorCtr="0" anchor="t" bIns="0" lIns="0" spcFirstLastPara="1" rIns="0" wrap="square" tIns="12700">
            <a:spAutoFit/>
          </a:bodyPr>
          <a:lstStyle/>
          <a:p>
            <a:pPr indent="-342900" lvl="0" marL="355600" marR="386080" rtl="0" algn="l">
              <a:lnSpc>
                <a:spcPct val="109900"/>
              </a:lnSpc>
              <a:spcBef>
                <a:spcPts val="0"/>
              </a:spcBef>
              <a:spcAft>
                <a:spcPts val="0"/>
              </a:spcAft>
              <a:buSzPts val="1800"/>
              <a:buFont typeface="Calibri"/>
              <a:buAutoNum type="arabicPeriod"/>
            </a:pPr>
            <a:r>
              <a:rPr lang="en-US" sz="1800">
                <a:latin typeface="Times New Roman"/>
                <a:ea typeface="Times New Roman"/>
                <a:cs typeface="Times New Roman"/>
                <a:sym typeface="Times New Roman"/>
              </a:rPr>
              <a:t>Jika peserta bermain menggunakan ID lain tanpa konfirmasi ke panitia, maka peserta bisa didiskualifikasi.</a:t>
            </a:r>
            <a:endParaRPr/>
          </a:p>
          <a:p>
            <a:pPr indent="-342900" lvl="0" marL="355600" marR="5080" rtl="0" algn="just">
              <a:lnSpc>
                <a:spcPct val="103899"/>
              </a:lnSpc>
              <a:spcBef>
                <a:spcPts val="1100"/>
              </a:spcBef>
              <a:spcAft>
                <a:spcPts val="0"/>
              </a:spcAft>
              <a:buSzPts val="1800"/>
              <a:buFont typeface="Calibri"/>
              <a:buAutoNum type="arabicPeriod"/>
            </a:pPr>
            <a:r>
              <a:rPr lang="en-US" sz="1800">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a:p>
          <a:p>
            <a:pPr indent="-342900" lvl="0" marL="355600" marR="717550" rtl="0" algn="l">
              <a:lnSpc>
                <a:spcPct val="100800"/>
              </a:lnSpc>
              <a:spcBef>
                <a:spcPts val="1080"/>
              </a:spcBef>
              <a:spcAft>
                <a:spcPts val="0"/>
              </a:spcAft>
              <a:buSzPts val="1800"/>
              <a:buFont typeface="Calibri"/>
              <a:buAutoNum type="arabicPeriod"/>
            </a:pPr>
            <a:r>
              <a:rPr lang="en-US" sz="1800">
                <a:latin typeface="Times New Roman"/>
                <a:ea typeface="Times New Roman"/>
                <a:cs typeface="Times New Roman"/>
                <a:sym typeface="Times New Roman"/>
              </a:rPr>
              <a:t>Jika ketahuan menggunakan bug secara sengaja oleh pihak panitia maka peserta tersebut akan di diskualifikasi.</a:t>
            </a:r>
            <a:endParaRPr/>
          </a:p>
          <a:p>
            <a:pPr indent="-342900" lvl="0" marL="355600" marR="202565" rtl="0" algn="l">
              <a:lnSpc>
                <a:spcPct val="115900"/>
              </a:lnSpc>
              <a:spcBef>
                <a:spcPts val="620"/>
              </a:spcBef>
              <a:spcAft>
                <a:spcPts val="0"/>
              </a:spcAft>
              <a:buSzPts val="1800"/>
              <a:buFont typeface="Calibri"/>
              <a:buAutoNum type="arabicPeriod"/>
            </a:pPr>
            <a:r>
              <a:rPr lang="en-US" sz="1800">
                <a:latin typeface="Times New Roman"/>
                <a:ea typeface="Times New Roman"/>
                <a:cs typeface="Times New Roman"/>
                <a:sym typeface="Times New Roman"/>
              </a:rPr>
              <a:t>Panitia berhak mendiskualifikasi pemain yang bertindak kasar atau tidak sopan terhadap sesama player atau panitia.</a:t>
            </a:r>
            <a:endParaRPr/>
          </a:p>
          <a:p>
            <a:pPr indent="-342900" lvl="0" marL="355600" marR="274955" rtl="0" algn="l">
              <a:lnSpc>
                <a:spcPct val="106000"/>
              </a:lnSpc>
              <a:spcBef>
                <a:spcPts val="1060"/>
              </a:spcBef>
              <a:spcAft>
                <a:spcPts val="0"/>
              </a:spcAft>
              <a:buSzPts val="1800"/>
              <a:buFont typeface="Calibri"/>
              <a:buAutoNum type="arabicPeriod"/>
            </a:pPr>
            <a:r>
              <a:rPr lang="en-US" sz="1800">
                <a:latin typeface="Times New Roman"/>
                <a:ea typeface="Times New Roman"/>
                <a:cs typeface="Times New Roman"/>
                <a:sym typeface="Times New Roman"/>
              </a:rPr>
              <a:t>Pelanggaran Format Turnamen akan diberikan 1x peringatan, jika mendapatkan 3x peringatan akan terkena pengurangan point atau keluar dari area pertandingan(WO)</a:t>
            </a:r>
            <a:endParaRPr/>
          </a:p>
          <a:p>
            <a:pPr indent="-342900" lvl="0" marL="355600" rtl="0" algn="l">
              <a:lnSpc>
                <a:spcPct val="100000"/>
              </a:lnSpc>
              <a:spcBef>
                <a:spcPts val="1495"/>
              </a:spcBef>
              <a:spcAft>
                <a:spcPts val="0"/>
              </a:spcAft>
              <a:buSzPts val="1800"/>
              <a:buFont typeface="Calibri"/>
              <a:buAutoNum type="arabicPeriod"/>
            </a:pPr>
            <a:r>
              <a:rPr lang="en-US" sz="1800">
                <a:latin typeface="Times New Roman"/>
                <a:ea typeface="Times New Roman"/>
                <a:cs typeface="Times New Roman"/>
                <a:sym typeface="Times New Roman"/>
              </a:rPr>
              <a:t>Peserta dilarang bermain pada lebih dari satu tim.</a:t>
            </a:r>
            <a:endParaRPr sz="1800">
              <a:latin typeface="Times New Roman"/>
              <a:ea typeface="Times New Roman"/>
              <a:cs typeface="Times New Roman"/>
              <a:sym typeface="Times New Roman"/>
            </a:endParaRPr>
          </a:p>
          <a:p>
            <a:pPr indent="-342900" lvl="0" marL="457200" marR="5080" rtl="0" algn="just">
              <a:spcBef>
                <a:spcPts val="1815"/>
              </a:spcBef>
              <a:spcAft>
                <a:spcPts val="0"/>
              </a:spcAft>
              <a:buClr>
                <a:srgbClr val="252525"/>
              </a:buClr>
              <a:buSzPts val="1800"/>
              <a:buFont typeface="Trebuchet MS"/>
              <a:buAutoNum type="arabicPeriod"/>
            </a:pPr>
            <a:r>
              <a:rPr lang="en-US" sz="1800">
                <a:solidFill>
                  <a:srgbClr val="252525"/>
                </a:solidFill>
                <a:latin typeface="Trebuchet MS"/>
                <a:ea typeface="Trebuchet MS"/>
                <a:cs typeface="Trebuchet MS"/>
                <a:sym typeface="Trebuchet MS"/>
              </a:rPr>
              <a:t>Dilarang keras menggunakan joki. jika ketahuan menggunakan joki maka dari pihak panitia melakukan WO ditempat</a:t>
            </a:r>
            <a:endParaRPr sz="1800">
              <a:solidFill>
                <a:srgbClr val="252525"/>
              </a:solidFill>
              <a:latin typeface="Trebuchet MS"/>
              <a:ea typeface="Trebuchet MS"/>
              <a:cs typeface="Trebuchet MS"/>
              <a:sym typeface="Trebuchet MS"/>
            </a:endParaRPr>
          </a:p>
          <a:p>
            <a:pPr indent="0" lvl="0" marL="0" rtl="0" algn="l">
              <a:lnSpc>
                <a:spcPct val="100000"/>
              </a:lnSpc>
              <a:spcBef>
                <a:spcPts val="1495"/>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None/>
            </a:pPr>
            <a:r>
              <a:rPr lang="en-US" sz="1800">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88" name="Google Shape;88;p7"/>
          <p:cNvSpPr txBox="1"/>
          <p:nvPr/>
        </p:nvSpPr>
        <p:spPr>
          <a:xfrm>
            <a:off x="2501264" y="1889378"/>
            <a:ext cx="7047300" cy="3798600"/>
          </a:xfrm>
          <a:prstGeom prst="rect">
            <a:avLst/>
          </a:prstGeom>
          <a:noFill/>
          <a:ln>
            <a:noFill/>
          </a:ln>
        </p:spPr>
        <p:txBody>
          <a:bodyPr anchorCtr="0" anchor="t" bIns="0" lIns="0" spcFirstLastPara="1" rIns="0" wrap="square" tIns="67925">
            <a:spAutoFit/>
          </a:bodyPr>
          <a:lstStyle/>
          <a:p>
            <a:pPr indent="0" lvl="0" marL="0" rtl="0" algn="l">
              <a:lnSpc>
                <a:spcPct val="100000"/>
              </a:lnSpc>
              <a:spcBef>
                <a:spcPts val="0"/>
              </a:spcBef>
              <a:spcAft>
                <a:spcPts val="0"/>
              </a:spcAft>
              <a:buNone/>
            </a:pPr>
            <a:r>
              <a:t/>
            </a:r>
            <a:endParaRPr sz="1800">
              <a:latin typeface="Trebuchet MS"/>
              <a:ea typeface="Trebuchet MS"/>
              <a:cs typeface="Trebuchet MS"/>
              <a:sym typeface="Trebuchet MS"/>
            </a:endParaRPr>
          </a:p>
          <a:p>
            <a:pPr indent="-228600" lvl="0" marL="2413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latin typeface="Trebuchet MS"/>
              <a:ea typeface="Trebuchet MS"/>
              <a:cs typeface="Trebuchet MS"/>
              <a:sym typeface="Trebuchet MS"/>
            </a:endParaRPr>
          </a:p>
          <a:p>
            <a:pPr indent="-227965" lvl="0" marL="240665" marR="360045" rtl="0" algn="l">
              <a:lnSpc>
                <a:spcPct val="112999"/>
              </a:lnSpc>
              <a:spcBef>
                <a:spcPts val="68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mengirimkan hasil akhir pertandingannya berupa screenshoot kepada panitia di grup WA</a:t>
            </a:r>
            <a:endParaRPr sz="1800">
              <a:latin typeface="Trebuchet MS"/>
              <a:ea typeface="Trebuchet MS"/>
              <a:cs typeface="Trebuchet MS"/>
              <a:sym typeface="Trebuchet MS"/>
            </a:endParaRPr>
          </a:p>
          <a:p>
            <a:pPr indent="-227964" lvl="0" marL="240665"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r>
              <a:rPr lang="en-US" sz="1800">
                <a:latin typeface="Trebuchet MS"/>
                <a:ea typeface="Trebuchet MS"/>
                <a:cs typeface="Trebuchet MS"/>
                <a:sym typeface="Trebuchet MS"/>
              </a:rPr>
              <a:t> </a:t>
            </a:r>
            <a:r>
              <a:rPr lang="en-US" sz="1800">
                <a:solidFill>
                  <a:srgbClr val="222222"/>
                </a:solidFill>
                <a:latin typeface="Trebuchet MS"/>
                <a:ea typeface="Trebuchet MS"/>
                <a:cs typeface="Trebuchet MS"/>
                <a:sym typeface="Trebuchet MS"/>
              </a:rPr>
              <a:t>p</a:t>
            </a:r>
            <a:r>
              <a:rPr lang="en-US" sz="1800">
                <a:solidFill>
                  <a:srgbClr val="222222"/>
                </a:solidFill>
                <a:latin typeface="Trebuchet MS"/>
                <a:ea typeface="Trebuchet MS"/>
                <a:cs typeface="Trebuchet MS"/>
                <a:sym typeface="Trebuchet MS"/>
              </a:rPr>
              <a:t>anitia apabila ada kecurangan </a:t>
            </a:r>
            <a:endParaRPr sz="1800">
              <a:latin typeface="Trebuchet MS"/>
              <a:ea typeface="Trebuchet MS"/>
              <a:cs typeface="Trebuchet MS"/>
              <a:sym typeface="Trebuchet MS"/>
            </a:endParaRPr>
          </a:p>
          <a:p>
            <a:pPr indent="-228600" lvl="0" marL="2413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latin typeface="Trebuchet MS"/>
              <a:ea typeface="Trebuchet MS"/>
              <a:cs typeface="Trebuchet MS"/>
              <a:sym typeface="Trebuchet MS"/>
            </a:endParaRPr>
          </a:p>
          <a:p>
            <a:pPr indent="-228600" lvl="0" marL="241300" marR="174625" rtl="0" algn="l">
              <a:lnSpc>
                <a:spcPct val="110900"/>
              </a:lnSpc>
              <a:spcBef>
                <a:spcPts val="72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Pelanggar yang melanggar aturan ini akan dikenakan sanksi atas kebijakan Panitia.</a:t>
            </a:r>
            <a:endParaRPr sz="1800">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c5ac1690ca_0_0"/>
          <p:cNvSpPr txBox="1"/>
          <p:nvPr>
            <p:ph type="title"/>
          </p:nvPr>
        </p:nvSpPr>
        <p:spPr>
          <a:xfrm>
            <a:off x="3160141" y="1162558"/>
            <a:ext cx="6141600" cy="5541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US"/>
              <a:t>SISTEM PERTANDINGAN </a:t>
            </a:r>
            <a:endParaRPr/>
          </a:p>
        </p:txBody>
      </p:sp>
      <p:sp>
        <p:nvSpPr>
          <p:cNvPr id="94" name="Google Shape;94;g3c5ac1690ca_0_0"/>
          <p:cNvSpPr txBox="1"/>
          <p:nvPr>
            <p:ph idx="1" type="body"/>
          </p:nvPr>
        </p:nvSpPr>
        <p:spPr>
          <a:xfrm>
            <a:off x="1136150" y="2172586"/>
            <a:ext cx="9702900" cy="1662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t>GLOBAL BAN &amp; PICK</a:t>
            </a:r>
            <a:endParaRPr/>
          </a:p>
          <a:p>
            <a:pPr indent="-317500" lvl="0" marL="457200" rtl="0" algn="l">
              <a:spcBef>
                <a:spcPts val="0"/>
              </a:spcBef>
              <a:spcAft>
                <a:spcPts val="0"/>
              </a:spcAft>
              <a:buSzPts val="1400"/>
              <a:buChar char="●"/>
            </a:pPr>
            <a:r>
              <a:rPr lang="en-US"/>
              <a:t>Hero yang digunakan pada game sebelumnya tidak dapat digunakan kembali di game berikutnya (1 hero 1 tim dalam 1 pertandingan)</a:t>
            </a:r>
            <a:endParaRPr/>
          </a:p>
          <a:p>
            <a:pPr indent="-317500" lvl="0" marL="457200" rtl="0" algn="l">
              <a:spcBef>
                <a:spcPts val="0"/>
              </a:spcBef>
              <a:spcAft>
                <a:spcPts val="0"/>
              </a:spcAft>
              <a:buSzPts val="1400"/>
              <a:buChar char="●"/>
            </a:pPr>
            <a:r>
              <a:rPr lang="en-US"/>
              <a:t>Batas hero ini berlaku untuk seluruh tim, bukan individu. Contoh dalam game pertama Tim A menggunakan hero Yao, Yixing, Yaria, Liu Bei, dan Luban No.7. Maka di game berikutnya tim tersebut tidak dapat memilih hero itu lagi</a:t>
            </a:r>
            <a:endParaRPr/>
          </a:p>
        </p:txBody>
      </p:sp>
      <p:pic>
        <p:nvPicPr>
          <p:cNvPr id="95" name="Google Shape;95;g3c5ac1690ca_0_0" title="WhatsApp Image 2026-03-13 at 21.08.23.jpeg"/>
          <p:cNvPicPr preferRelativeResize="0"/>
          <p:nvPr/>
        </p:nvPicPr>
        <p:blipFill rotWithShape="1">
          <a:blip r:embed="rId3">
            <a:alphaModFix/>
          </a:blip>
          <a:srcRect b="55177" l="0" r="0" t="0"/>
          <a:stretch/>
        </p:blipFill>
        <p:spPr>
          <a:xfrm>
            <a:off x="2991547" y="4004863"/>
            <a:ext cx="6673475" cy="1765925"/>
          </a:xfrm>
          <a:prstGeom prst="rect">
            <a:avLst/>
          </a:prstGeom>
          <a:noFill/>
          <a:ln>
            <a:noFill/>
          </a:ln>
        </p:spPr>
      </p:pic>
      <p:sp>
        <p:nvSpPr>
          <p:cNvPr id="96" name="Google Shape;96;g3c5ac1690ca_0_0"/>
          <p:cNvSpPr txBox="1"/>
          <p:nvPr/>
        </p:nvSpPr>
        <p:spPr>
          <a:xfrm flipH="1">
            <a:off x="1208600" y="6065200"/>
            <a:ext cx="8245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Tim B masih bisa menggunakan hero yang sudh di gunakan Tim A</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p8"/>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2" name="Google Shape;102;p8"/>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POIN PELANGGARAN</a:t>
            </a:r>
            <a:endParaRPr sz="4000"/>
          </a:p>
        </p:txBody>
      </p:sp>
      <p:sp>
        <p:nvSpPr>
          <p:cNvPr id="103" name="Google Shape;103;p8"/>
          <p:cNvSpPr txBox="1"/>
          <p:nvPr/>
        </p:nvSpPr>
        <p:spPr>
          <a:xfrm>
            <a:off x="2215900" y="1823602"/>
            <a:ext cx="7760400" cy="4322700"/>
          </a:xfrm>
          <a:prstGeom prst="rect">
            <a:avLst/>
          </a:prstGeom>
          <a:noFill/>
          <a:ln>
            <a:noFill/>
          </a:ln>
        </p:spPr>
        <p:txBody>
          <a:bodyPr anchorCtr="0" anchor="t" bIns="0" lIns="0" spcFirstLastPara="1" rIns="0" wrap="square" tIns="12700">
            <a:spAutoFit/>
          </a:bodyPr>
          <a:lstStyle/>
          <a:p>
            <a:pPr indent="-349251" lvl="0" marL="241300" rtl="0" algn="l">
              <a:lnSpc>
                <a:spcPct val="100000"/>
              </a:lnSpc>
              <a:spcBef>
                <a:spcPts val="0"/>
              </a:spcBef>
              <a:spcAft>
                <a:spcPts val="0"/>
              </a:spcAft>
              <a:buClr>
                <a:srgbClr val="9BACB5"/>
              </a:buClr>
              <a:buSzPts val="3500"/>
              <a:buFont typeface="Trebuchet MS"/>
              <a:buChar char="•"/>
            </a:pPr>
            <a:r>
              <a:rPr lang="en-US" sz="3500">
                <a:latin typeface="Trebuchet MS"/>
                <a:ea typeface="Trebuchet MS"/>
                <a:cs typeface="Trebuchet MS"/>
                <a:sym typeface="Trebuchet MS"/>
              </a:rPr>
              <a:t>Berkata kasar dan sara :-1 match</a:t>
            </a:r>
            <a:endParaRPr sz="3500">
              <a:latin typeface="Trebuchet MS"/>
              <a:ea typeface="Trebuchet MS"/>
              <a:cs typeface="Trebuchet MS"/>
              <a:sym typeface="Trebuchet MS"/>
            </a:endParaRPr>
          </a:p>
          <a:p>
            <a:pPr indent="-349251" lvl="0" marL="241300" rtl="0" algn="l">
              <a:lnSpc>
                <a:spcPct val="100000"/>
              </a:lnSpc>
              <a:spcBef>
                <a:spcPts val="0"/>
              </a:spcBef>
              <a:spcAft>
                <a:spcPts val="0"/>
              </a:spcAft>
              <a:buClr>
                <a:srgbClr val="9BACB5"/>
              </a:buClr>
              <a:buSzPts val="3500"/>
              <a:buFont typeface="Trebuchet MS"/>
              <a:buChar char="•"/>
            </a:pPr>
            <a:r>
              <a:rPr lang="en-US" sz="3500">
                <a:latin typeface="Trebuchet MS"/>
                <a:ea typeface="Trebuchet MS"/>
                <a:cs typeface="Trebuchet MS"/>
                <a:sym typeface="Trebuchet MS"/>
              </a:rPr>
              <a:t>Teaming : -1 match</a:t>
            </a:r>
            <a:endParaRPr sz="3500">
              <a:latin typeface="Trebuchet MS"/>
              <a:ea typeface="Trebuchet MS"/>
              <a:cs typeface="Trebuchet MS"/>
              <a:sym typeface="Trebuchet MS"/>
            </a:endParaRPr>
          </a:p>
          <a:p>
            <a:pPr indent="-349251" lvl="0" marL="241300" rtl="0" algn="l">
              <a:lnSpc>
                <a:spcPct val="100000"/>
              </a:lnSpc>
              <a:spcBef>
                <a:spcPts val="0"/>
              </a:spcBef>
              <a:spcAft>
                <a:spcPts val="0"/>
              </a:spcAft>
              <a:buClr>
                <a:srgbClr val="9BACB5"/>
              </a:buClr>
              <a:buSzPts val="3500"/>
              <a:buFont typeface="Trebuchet MS"/>
              <a:buChar char="•"/>
            </a:pPr>
            <a:r>
              <a:rPr lang="en-US" sz="3500">
                <a:latin typeface="Trebuchet MS"/>
                <a:ea typeface="Trebuchet MS"/>
                <a:cs typeface="Trebuchet MS"/>
                <a:sym typeface="Trebuchet MS"/>
              </a:rPr>
              <a:t>Cheat : wo</a:t>
            </a:r>
            <a:endParaRPr sz="3500">
              <a:latin typeface="Trebuchet MS"/>
              <a:ea typeface="Trebuchet MS"/>
              <a:cs typeface="Trebuchet MS"/>
              <a:sym typeface="Trebuchet MS"/>
            </a:endParaRPr>
          </a:p>
          <a:p>
            <a:pPr indent="-387350" lvl="0" marL="241300" rtl="0" algn="l">
              <a:lnSpc>
                <a:spcPct val="100000"/>
              </a:lnSpc>
              <a:spcBef>
                <a:spcPts val="0"/>
              </a:spcBef>
              <a:spcAft>
                <a:spcPts val="0"/>
              </a:spcAft>
              <a:buClr>
                <a:srgbClr val="9BACB5"/>
              </a:buClr>
              <a:buSzPts val="3500"/>
              <a:buFont typeface="Trebuchet MS"/>
              <a:buChar char="•"/>
            </a:pPr>
            <a:r>
              <a:rPr lang="en-US" sz="3500">
                <a:latin typeface="Trebuchet MS"/>
                <a:ea typeface="Trebuchet MS"/>
                <a:cs typeface="Trebuchet MS"/>
                <a:sym typeface="Trebuchet MS"/>
              </a:rPr>
              <a:t>INDIKASI ANARKIS (MEMUKUL MEJA, DLL) : -1 match</a:t>
            </a:r>
            <a:endParaRPr sz="3500">
              <a:latin typeface="Trebuchet MS"/>
              <a:ea typeface="Trebuchet MS"/>
              <a:cs typeface="Trebuchet MS"/>
              <a:sym typeface="Trebuchet MS"/>
            </a:endParaRPr>
          </a:p>
          <a:p>
            <a:pPr indent="-387350" lvl="0" marL="241300" rtl="0" algn="l">
              <a:lnSpc>
                <a:spcPct val="100000"/>
              </a:lnSpc>
              <a:spcBef>
                <a:spcPts val="0"/>
              </a:spcBef>
              <a:spcAft>
                <a:spcPts val="0"/>
              </a:spcAft>
              <a:buSzPts val="3500"/>
              <a:buFont typeface="Trebuchet MS"/>
              <a:buChar char="•"/>
            </a:pPr>
            <a:r>
              <a:rPr lang="en-US" sz="3500">
                <a:latin typeface="Trebuchet MS"/>
                <a:ea typeface="Trebuchet MS"/>
                <a:cs typeface="Trebuchet MS"/>
                <a:sym typeface="Trebuchet MS"/>
              </a:rPr>
              <a:t>Ngepick hero yang sama sengaja maupun tidak : - 1 match</a:t>
            </a:r>
            <a:endParaRPr sz="3500">
              <a:latin typeface="Trebuchet MS"/>
              <a:ea typeface="Trebuchet MS"/>
              <a:cs typeface="Trebuchet MS"/>
              <a:sym typeface="Trebuchet MS"/>
            </a:endParaRPr>
          </a:p>
          <a:p>
            <a:pPr indent="-387350" lvl="0" marL="241300" rtl="0" algn="l">
              <a:lnSpc>
                <a:spcPct val="100000"/>
              </a:lnSpc>
              <a:spcBef>
                <a:spcPts val="0"/>
              </a:spcBef>
              <a:spcAft>
                <a:spcPts val="0"/>
              </a:spcAft>
              <a:buSzPts val="3500"/>
              <a:buFont typeface="Trebuchet MS"/>
              <a:buChar char="•"/>
            </a:pPr>
            <a:r>
              <a:rPr lang="en-US" sz="3500">
                <a:latin typeface="Trebuchet MS"/>
                <a:ea typeface="Trebuchet MS"/>
                <a:cs typeface="Trebuchet MS"/>
                <a:sym typeface="Trebuchet MS"/>
              </a:rPr>
              <a:t>Joki : wo</a:t>
            </a:r>
            <a:endParaRPr sz="3500">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9"/>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 name="Google Shape;109;p9"/>
          <p:cNvSpPr txBox="1"/>
          <p:nvPr>
            <p:ph type="title"/>
          </p:nvPr>
        </p:nvSpPr>
        <p:spPr>
          <a:xfrm>
            <a:off x="4469700" y="848614"/>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MATCH</a:t>
            </a:r>
            <a:endParaRPr sz="2800"/>
          </a:p>
        </p:txBody>
      </p:sp>
      <p:sp>
        <p:nvSpPr>
          <p:cNvPr id="110" name="Google Shape;110;p9"/>
          <p:cNvSpPr txBox="1"/>
          <p:nvPr/>
        </p:nvSpPr>
        <p:spPr>
          <a:xfrm>
            <a:off x="573023" y="1524000"/>
            <a:ext cx="10546200" cy="2229900"/>
          </a:xfrm>
          <a:prstGeom prst="rect">
            <a:avLst/>
          </a:prstGeom>
          <a:noFill/>
          <a:ln>
            <a:noFill/>
          </a:ln>
        </p:spPr>
        <p:txBody>
          <a:bodyPr anchorCtr="0" anchor="t" bIns="0" lIns="0" spcFirstLastPara="1" rIns="0" wrap="square" tIns="165725">
            <a:spAutoFit/>
          </a:bodyPr>
          <a:lstStyle/>
          <a:p>
            <a:pPr indent="-342900" lvl="0" marL="342900" rtl="0" algn="l">
              <a:lnSpc>
                <a:spcPct val="150000"/>
              </a:lnSpc>
              <a:spcBef>
                <a:spcPts val="0"/>
              </a:spcBef>
              <a:spcAft>
                <a:spcPts val="0"/>
              </a:spcAft>
              <a:buClr>
                <a:schemeClr val="dk1"/>
              </a:buClr>
              <a:buSzPts val="2000"/>
              <a:buFont typeface="Calibri"/>
              <a:buAutoNum type="arabicPeriod"/>
            </a:pPr>
            <a:r>
              <a:rPr lang="en-US" sz="2000">
                <a:solidFill>
                  <a:schemeClr val="dk1"/>
                </a:solidFill>
                <a:latin typeface="Times New Roman"/>
                <a:ea typeface="Times New Roman"/>
                <a:cs typeface="Times New Roman"/>
                <a:sym typeface="Times New Roman"/>
              </a:rPr>
              <a:t>Pertandingan full Offline</a:t>
            </a:r>
            <a:endParaRPr>
              <a:solidFill>
                <a:schemeClr val="dk1"/>
              </a:solidFill>
            </a:endParaRPr>
          </a:p>
          <a:p>
            <a:pPr indent="-342900" lvl="0" marL="342900" rtl="0" algn="l">
              <a:lnSpc>
                <a:spcPct val="150000"/>
              </a:lnSpc>
              <a:spcBef>
                <a:spcPts val="0"/>
              </a:spcBef>
              <a:spcAft>
                <a:spcPts val="0"/>
              </a:spcAft>
              <a:buClr>
                <a:schemeClr val="dk1"/>
              </a:buClr>
              <a:buSzPts val="2000"/>
              <a:buFont typeface="Calibri"/>
              <a:buAutoNum type="arabicPeriod"/>
            </a:pPr>
            <a:r>
              <a:rPr lang="en-US" sz="2000">
                <a:solidFill>
                  <a:schemeClr val="dk1"/>
                </a:solidFill>
                <a:latin typeface="Times New Roman"/>
                <a:ea typeface="Times New Roman"/>
                <a:cs typeface="Times New Roman"/>
                <a:sym typeface="Times New Roman"/>
              </a:rPr>
              <a:t>Kualifikasi sampai Final 5 vs 5 Global Pick mode BO 3 </a:t>
            </a:r>
            <a:endParaRPr>
              <a:solidFill>
                <a:schemeClr val="dk1"/>
              </a:solidFill>
            </a:endParaRPr>
          </a:p>
          <a:p>
            <a:pPr indent="-342900" lvl="0" marL="342900" rtl="0" algn="l">
              <a:lnSpc>
                <a:spcPct val="150000"/>
              </a:lnSpc>
              <a:spcBef>
                <a:spcPts val="0"/>
              </a:spcBef>
              <a:spcAft>
                <a:spcPts val="0"/>
              </a:spcAft>
              <a:buClr>
                <a:schemeClr val="dk1"/>
              </a:buClr>
              <a:buSzPts val="2000"/>
              <a:buFont typeface="Calibri"/>
              <a:buAutoNum type="arabicPeriod"/>
            </a:pPr>
            <a:r>
              <a:rPr lang="en-US" sz="2000">
                <a:solidFill>
                  <a:schemeClr val="dk1"/>
                </a:solidFill>
                <a:latin typeface="Times New Roman"/>
                <a:ea typeface="Times New Roman"/>
                <a:cs typeface="Times New Roman"/>
                <a:sym typeface="Times New Roman"/>
              </a:rPr>
              <a:t>Sistem Dobble Elimination</a:t>
            </a:r>
            <a:endParaRPr>
              <a:solidFill>
                <a:schemeClr val="dk1"/>
              </a:solidFill>
            </a:endParaRPr>
          </a:p>
          <a:p>
            <a:pPr indent="-342900" lvl="0" marL="342900" rtl="0" algn="l">
              <a:lnSpc>
                <a:spcPct val="150000"/>
              </a:lnSpc>
              <a:spcBef>
                <a:spcPts val="0"/>
              </a:spcBef>
              <a:spcAft>
                <a:spcPts val="0"/>
              </a:spcAft>
              <a:buClr>
                <a:schemeClr val="dk1"/>
              </a:buClr>
              <a:buSzPts val="2000"/>
              <a:buFont typeface="Calibri"/>
              <a:buAutoNum type="arabicPeriod"/>
            </a:pPr>
            <a:r>
              <a:rPr lang="en-US" sz="2000">
                <a:solidFill>
                  <a:schemeClr val="dk1"/>
                </a:solidFill>
                <a:latin typeface="Times New Roman"/>
                <a:ea typeface="Times New Roman"/>
                <a:cs typeface="Times New Roman"/>
                <a:sym typeface="Times New Roman"/>
              </a:rPr>
              <a:t>kualifikasi sampai Final Berlaku Global Pick</a:t>
            </a:r>
            <a:endParaRPr sz="2000">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 name="Shape 114"/>
        <p:cNvGrpSpPr/>
        <p:nvPr/>
      </p:nvGrpSpPr>
      <p:grpSpPr>
        <a:xfrm>
          <a:off x="0" y="0"/>
          <a:ext cx="0" cy="0"/>
          <a:chOff x="0" y="0"/>
          <a:chExt cx="0" cy="0"/>
        </a:xfrm>
      </p:grpSpPr>
      <p:sp>
        <p:nvSpPr>
          <p:cNvPr id="115" name="Google Shape;115;p10"/>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 name="Google Shape;116;p10"/>
          <p:cNvSpPr txBox="1"/>
          <p:nvPr>
            <p:ph type="title"/>
          </p:nvPr>
        </p:nvSpPr>
        <p:spPr>
          <a:xfrm>
            <a:off x="3160141" y="1162558"/>
            <a:ext cx="6141600" cy="567000"/>
          </a:xfrm>
          <a:prstGeom prst="rect">
            <a:avLst/>
          </a:prstGeom>
          <a:noFill/>
          <a:ln>
            <a:noFill/>
          </a:ln>
        </p:spPr>
        <p:txBody>
          <a:bodyPr anchorCtr="0" anchor="t" bIns="0" lIns="0" spcFirstLastPara="1" rIns="0" wrap="square" tIns="12700">
            <a:spAutoFit/>
          </a:bodyPr>
          <a:lstStyle/>
          <a:p>
            <a:pPr indent="0" lvl="0" marL="902335" rtl="0" algn="l">
              <a:lnSpc>
                <a:spcPct val="100000"/>
              </a:lnSpc>
              <a:spcBef>
                <a:spcPts val="0"/>
              </a:spcBef>
              <a:spcAft>
                <a:spcPts val="0"/>
              </a:spcAft>
              <a:buNone/>
            </a:pPr>
            <a:r>
              <a:rPr lang="en-US"/>
              <a:t>FORMAT MATCH</a:t>
            </a:r>
            <a:endParaRPr/>
          </a:p>
        </p:txBody>
      </p:sp>
      <p:sp>
        <p:nvSpPr>
          <p:cNvPr id="117" name="Google Shape;117;p10"/>
          <p:cNvSpPr txBox="1"/>
          <p:nvPr>
            <p:ph type="title"/>
          </p:nvPr>
        </p:nvSpPr>
        <p:spPr>
          <a:xfrm>
            <a:off x="1100375" y="1778250"/>
            <a:ext cx="9691200" cy="5587500"/>
          </a:xfrm>
          <a:prstGeom prst="rect">
            <a:avLst/>
          </a:prstGeom>
          <a:noFill/>
          <a:ln>
            <a:noFill/>
          </a:ln>
        </p:spPr>
        <p:txBody>
          <a:bodyPr anchorCtr="0" anchor="t" bIns="0" lIns="0" spcFirstLastPara="1" rIns="0" wrap="square" tIns="12700">
            <a:spAutoFit/>
          </a:bodyPr>
          <a:lstStyle/>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Hero Auto Ban    : Tidak ada (yuan ge/yango boleh digunakan)</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All Chat 	       : No</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Radio All 	       : No</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Taunting		       :Yes</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Pause		       : No (Kecuali Semi Final sampai Final)</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Room Kustom   : Ban/Pick Normal</a:t>
            </a:r>
            <a:endParaRPr sz="2000">
              <a:latin typeface="Times New Roman"/>
              <a:ea typeface="Times New Roman"/>
              <a:cs typeface="Times New Roman"/>
              <a:sym typeface="Times New Roman"/>
            </a:endParaRPr>
          </a:p>
          <a:p>
            <a:pPr indent="0" lvl="0" marL="0" marR="5080" rtl="0" algn="l">
              <a:lnSpc>
                <a:spcPct val="104000"/>
              </a:lnSpc>
              <a:spcBef>
                <a:spcPts val="1020"/>
              </a:spcBef>
              <a:spcAft>
                <a:spcPts val="0"/>
              </a:spcAft>
              <a:buClr>
                <a:schemeClr val="dk1"/>
              </a:buClr>
              <a:buSzPts val="1100"/>
              <a:buFont typeface="Arial"/>
              <a:buNone/>
            </a:pPr>
            <a:r>
              <a:rPr lang="en-US" sz="2000">
                <a:solidFill>
                  <a:srgbClr val="252525"/>
                </a:solidFill>
                <a:latin typeface="Times New Roman"/>
                <a:ea typeface="Times New Roman"/>
                <a:cs typeface="Times New Roman"/>
                <a:sym typeface="Times New Roman"/>
              </a:rPr>
              <a:t>Maksimal pause adalah 2 kali 2 menit untuk setiap tim per match</a:t>
            </a:r>
            <a:endParaRPr sz="2000">
              <a:solidFill>
                <a:srgbClr val="252525"/>
              </a:solidFill>
              <a:latin typeface="Times New Roman"/>
              <a:ea typeface="Times New Roman"/>
              <a:cs typeface="Times New Roman"/>
              <a:sym typeface="Times New Roman"/>
            </a:endParaRPr>
          </a:p>
          <a:p>
            <a:pPr indent="0" lvl="0" marL="0" rtl="0" algn="l">
              <a:spcBef>
                <a:spcPts val="675"/>
              </a:spcBef>
              <a:spcAft>
                <a:spcPts val="0"/>
              </a:spcAft>
              <a:buClr>
                <a:schemeClr val="dk1"/>
              </a:buClr>
              <a:buSzPts val="1100"/>
              <a:buFont typeface="Arial"/>
              <a:buNone/>
            </a:pPr>
            <a:r>
              <a:rPr lang="en-US" sz="2000">
                <a:solidFill>
                  <a:srgbClr val="252525"/>
                </a:solidFill>
                <a:latin typeface="Times New Roman"/>
                <a:ea typeface="Times New Roman"/>
                <a:cs typeface="Times New Roman"/>
                <a:sym typeface="Times New Roman"/>
              </a:rPr>
              <a:t>Peserta pada bracket atas menempati first pick ( biru lobby )</a:t>
            </a:r>
            <a:endParaRPr sz="2000">
              <a:solidFill>
                <a:srgbClr val="252525"/>
              </a:solidFill>
              <a:latin typeface="Times New Roman"/>
              <a:ea typeface="Times New Roman"/>
              <a:cs typeface="Times New Roman"/>
              <a:sym typeface="Times New Roman"/>
            </a:endParaRPr>
          </a:p>
          <a:p>
            <a:pPr indent="0" lvl="0" marL="0" rtl="0" algn="l">
              <a:spcBef>
                <a:spcPts val="675"/>
              </a:spcBef>
              <a:spcAft>
                <a:spcPts val="0"/>
              </a:spcAft>
              <a:buClr>
                <a:schemeClr val="dk1"/>
              </a:buClr>
              <a:buSzPts val="1100"/>
              <a:buFont typeface="Arial"/>
              <a:buNone/>
            </a:pPr>
            <a:r>
              <a:rPr lang="en-US" sz="2000">
                <a:solidFill>
                  <a:srgbClr val="252525"/>
                </a:solidFill>
                <a:latin typeface="Times New Roman"/>
                <a:ea typeface="Times New Roman"/>
                <a:cs typeface="Times New Roman"/>
                <a:sym typeface="Times New Roman"/>
              </a:rPr>
              <a:t>Kualifikasi sampai final BAN 8</a:t>
            </a:r>
            <a:endParaRPr sz="2000">
              <a:solidFill>
                <a:srgbClr val="252525"/>
              </a:solidFill>
              <a:latin typeface="Times New Roman"/>
              <a:ea typeface="Times New Roman"/>
              <a:cs typeface="Times New Roman"/>
              <a:sym typeface="Times New Roman"/>
            </a:endParaRPr>
          </a:p>
          <a:p>
            <a:pPr indent="0" lvl="0" marL="0" rtl="0" algn="l">
              <a:spcBef>
                <a:spcPts val="675"/>
              </a:spcBef>
              <a:spcAft>
                <a:spcPts val="0"/>
              </a:spcAft>
              <a:buClr>
                <a:schemeClr val="dk1"/>
              </a:buClr>
              <a:buSzPts val="1100"/>
              <a:buFont typeface="Arial"/>
              <a:buNone/>
            </a:pPr>
            <a:r>
              <a:rPr b="1" lang="en-US" sz="2000">
                <a:solidFill>
                  <a:srgbClr val="252525"/>
                </a:solidFill>
              </a:rPr>
              <a:t>JIKA PADA ACAK BAGAN, DAN BERTEMU LAWAN DARI SATU SEKOLAH YANG SAMA MAKA TIDAK ADA PENGULANGAN ACAK BAGAN DAN HARUS DITERIMA</a:t>
            </a:r>
            <a:endParaRPr b="1" sz="2000">
              <a:solidFill>
                <a:srgbClr val="252525"/>
              </a:solidFill>
            </a:endParaRPr>
          </a:p>
          <a:p>
            <a:pPr indent="0" lvl="0" marL="0" rtl="0" algn="l">
              <a:spcBef>
                <a:spcPts val="0"/>
              </a:spcBef>
              <a:spcAft>
                <a:spcPts val="0"/>
              </a:spcAft>
              <a:buClr>
                <a:schemeClr val="dk1"/>
              </a:buClr>
              <a:buFont typeface="Arial"/>
              <a:buNone/>
            </a:pPr>
            <a:r>
              <a:t/>
            </a:r>
            <a:endParaRPr sz="2000">
              <a:latin typeface="Times New Roman"/>
              <a:ea typeface="Times New Roman"/>
              <a:cs typeface="Times New Roman"/>
              <a:sym typeface="Times New Roman"/>
            </a:endParaRPr>
          </a:p>
          <a:p>
            <a:pPr indent="0" lvl="0" marL="902335" rtl="0" algn="l">
              <a:lnSpc>
                <a:spcPct val="100000"/>
              </a:lnSpc>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cfff6f47df_0_0"/>
          <p:cNvSpPr txBox="1"/>
          <p:nvPr/>
        </p:nvSpPr>
        <p:spPr>
          <a:xfrm>
            <a:off x="236106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3" name="Google Shape;123;g3cfff6f47df_0_0"/>
          <p:cNvSpPr txBox="1"/>
          <p:nvPr/>
        </p:nvSpPr>
        <p:spPr>
          <a:xfrm>
            <a:off x="223967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29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