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8" roundtripDataSignature="AMtx7mgAL6TKfYFOIDiL1kkXRUygv26h8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cfd5c60151_1_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
        <p:nvSpPr>
          <p:cNvPr id="91" name="Google Shape;91;g3cfd5c60151_1_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cfdd281804_0_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cfdd281804_0_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1" name="Shape 11"/>
        <p:cNvGrpSpPr/>
        <p:nvPr/>
      </p:nvGrpSpPr>
      <p:grpSpPr>
        <a:xfrm>
          <a:off x="0" y="0"/>
          <a:ext cx="0" cy="0"/>
          <a:chOff x="0" y="0"/>
          <a:chExt cx="0" cy="0"/>
        </a:xfrm>
      </p:grpSpPr>
      <p:sp>
        <p:nvSpPr>
          <p:cNvPr id="12" name="Google Shape;12;p12"/>
          <p:cNvSpPr/>
          <p:nvPr/>
        </p:nvSpPr>
        <p:spPr>
          <a:xfrm>
            <a:off x="1581924" y="2368308"/>
            <a:ext cx="9031605" cy="1085850"/>
          </a:xfrm>
          <a:custGeom>
            <a:rect b="b" l="l" r="r" t="t"/>
            <a:pathLst>
              <a:path extrusionOk="0" h="1085850" w="9031605">
                <a:moveTo>
                  <a:pt x="9011399" y="1085697"/>
                </a:moveTo>
                <a:lnTo>
                  <a:pt x="19799" y="1085697"/>
                </a:lnTo>
                <a:lnTo>
                  <a:pt x="16357" y="1085392"/>
                </a:lnTo>
                <a:lnTo>
                  <a:pt x="0" y="1065898"/>
                </a:lnTo>
                <a:lnTo>
                  <a:pt x="0" y="19799"/>
                </a:lnTo>
                <a:lnTo>
                  <a:pt x="19799" y="0"/>
                </a:lnTo>
                <a:lnTo>
                  <a:pt x="9011399" y="0"/>
                </a:lnTo>
                <a:lnTo>
                  <a:pt x="9031198" y="19799"/>
                </a:lnTo>
                <a:lnTo>
                  <a:pt x="39598" y="19799"/>
                </a:lnTo>
                <a:lnTo>
                  <a:pt x="19799" y="39598"/>
                </a:lnTo>
                <a:lnTo>
                  <a:pt x="39598" y="39598"/>
                </a:lnTo>
                <a:lnTo>
                  <a:pt x="39598" y="1046099"/>
                </a:lnTo>
                <a:lnTo>
                  <a:pt x="19799" y="1046099"/>
                </a:lnTo>
                <a:lnTo>
                  <a:pt x="39598" y="1065898"/>
                </a:lnTo>
                <a:lnTo>
                  <a:pt x="9031198" y="1065898"/>
                </a:lnTo>
                <a:lnTo>
                  <a:pt x="9030893" y="1069339"/>
                </a:lnTo>
                <a:lnTo>
                  <a:pt x="9014841" y="1085392"/>
                </a:lnTo>
                <a:lnTo>
                  <a:pt x="9011399" y="1085697"/>
                </a:lnTo>
                <a:close/>
              </a:path>
              <a:path extrusionOk="0" h="1085850" w="9031605">
                <a:moveTo>
                  <a:pt x="39598" y="39598"/>
                </a:moveTo>
                <a:lnTo>
                  <a:pt x="19799" y="39598"/>
                </a:lnTo>
                <a:lnTo>
                  <a:pt x="39598" y="19799"/>
                </a:lnTo>
                <a:lnTo>
                  <a:pt x="39598" y="39598"/>
                </a:lnTo>
                <a:close/>
              </a:path>
              <a:path extrusionOk="0" h="1085850" w="9031605">
                <a:moveTo>
                  <a:pt x="8991600" y="39598"/>
                </a:moveTo>
                <a:lnTo>
                  <a:pt x="39598" y="39598"/>
                </a:lnTo>
                <a:lnTo>
                  <a:pt x="39598" y="19799"/>
                </a:lnTo>
                <a:lnTo>
                  <a:pt x="8991600" y="19799"/>
                </a:lnTo>
                <a:lnTo>
                  <a:pt x="8991600" y="39598"/>
                </a:lnTo>
                <a:close/>
              </a:path>
              <a:path extrusionOk="0" h="1085850" w="9031605">
                <a:moveTo>
                  <a:pt x="8991600" y="1065898"/>
                </a:moveTo>
                <a:lnTo>
                  <a:pt x="8991600" y="19799"/>
                </a:lnTo>
                <a:lnTo>
                  <a:pt x="9011399" y="39598"/>
                </a:lnTo>
                <a:lnTo>
                  <a:pt x="9031198" y="39598"/>
                </a:lnTo>
                <a:lnTo>
                  <a:pt x="9031198" y="1046099"/>
                </a:lnTo>
                <a:lnTo>
                  <a:pt x="9011399" y="1046099"/>
                </a:lnTo>
                <a:lnTo>
                  <a:pt x="8991600" y="1065898"/>
                </a:lnTo>
                <a:close/>
              </a:path>
              <a:path extrusionOk="0" h="1085850" w="9031605">
                <a:moveTo>
                  <a:pt x="9031198" y="39598"/>
                </a:moveTo>
                <a:lnTo>
                  <a:pt x="9011399" y="39598"/>
                </a:lnTo>
                <a:lnTo>
                  <a:pt x="8991600" y="19799"/>
                </a:lnTo>
                <a:lnTo>
                  <a:pt x="9031198" y="19799"/>
                </a:lnTo>
                <a:lnTo>
                  <a:pt x="9031198" y="39598"/>
                </a:lnTo>
                <a:close/>
              </a:path>
              <a:path extrusionOk="0" h="1085850" w="9031605">
                <a:moveTo>
                  <a:pt x="39598" y="1065898"/>
                </a:moveTo>
                <a:lnTo>
                  <a:pt x="19799" y="1046099"/>
                </a:lnTo>
                <a:lnTo>
                  <a:pt x="39598" y="1046099"/>
                </a:lnTo>
                <a:lnTo>
                  <a:pt x="39598" y="1065898"/>
                </a:lnTo>
                <a:close/>
              </a:path>
              <a:path extrusionOk="0" h="1085850" w="9031605">
                <a:moveTo>
                  <a:pt x="8991600" y="1065898"/>
                </a:moveTo>
                <a:lnTo>
                  <a:pt x="39598" y="1065898"/>
                </a:lnTo>
                <a:lnTo>
                  <a:pt x="39598" y="1046099"/>
                </a:lnTo>
                <a:lnTo>
                  <a:pt x="8991600" y="1046099"/>
                </a:lnTo>
                <a:lnTo>
                  <a:pt x="8991600" y="1065898"/>
                </a:lnTo>
                <a:close/>
              </a:path>
              <a:path extrusionOk="0" h="1085850" w="9031605">
                <a:moveTo>
                  <a:pt x="9031198" y="1065898"/>
                </a:moveTo>
                <a:lnTo>
                  <a:pt x="8991600" y="1065898"/>
                </a:lnTo>
                <a:lnTo>
                  <a:pt x="9011399" y="1046099"/>
                </a:lnTo>
                <a:lnTo>
                  <a:pt x="9031198" y="1046099"/>
                </a:lnTo>
                <a:lnTo>
                  <a:pt x="9031198" y="1065898"/>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 name="Google Shape;13;p12"/>
          <p:cNvSpPr txBox="1"/>
          <p:nvPr>
            <p:ph type="ctrTitle"/>
          </p:nvPr>
        </p:nvSpPr>
        <p:spPr>
          <a:xfrm>
            <a:off x="4715891" y="2792602"/>
            <a:ext cx="2760217" cy="60578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2"/>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 name="Shape 18"/>
        <p:cNvGrpSpPr/>
        <p:nvPr/>
      </p:nvGrpSpPr>
      <p:grpSpPr>
        <a:xfrm>
          <a:off x="0" y="0"/>
          <a:ext cx="0" cy="0"/>
          <a:chOff x="0" y="0"/>
          <a:chExt cx="0" cy="0"/>
        </a:xfrm>
      </p:grpSpPr>
      <p:sp>
        <p:nvSpPr>
          <p:cNvPr id="19" name="Google Shape;19;p13"/>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3"/>
          <p:cNvSpPr txBox="1"/>
          <p:nvPr>
            <p:ph idx="1" type="body"/>
          </p:nvPr>
        </p:nvSpPr>
        <p:spPr>
          <a:xfrm>
            <a:off x="953096" y="2890773"/>
            <a:ext cx="9702800" cy="332867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 name="Google Shape;21;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 name="Shape 24"/>
        <p:cNvGrpSpPr/>
        <p:nvPr/>
      </p:nvGrpSpPr>
      <p:grpSpPr>
        <a:xfrm>
          <a:off x="0" y="0"/>
          <a:ext cx="0" cy="0"/>
          <a:chOff x="0" y="0"/>
          <a:chExt cx="0" cy="0"/>
        </a:xfrm>
      </p:grpSpPr>
      <p:sp>
        <p:nvSpPr>
          <p:cNvPr id="25" name="Google Shape;25;p14"/>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4"/>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14"/>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15"/>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1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3600" u="none" cap="none" strike="noStrike">
                <a:solidFill>
                  <a:schemeClr val="dk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953096" y="2890773"/>
            <a:ext cx="9702800" cy="332867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1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ph type="ctrTitle"/>
          </p:nvPr>
        </p:nvSpPr>
        <p:spPr>
          <a:xfrm>
            <a:off x="4166550" y="2590800"/>
            <a:ext cx="3858897" cy="598241"/>
          </a:xfrm>
          <a:prstGeom prst="rect">
            <a:avLst/>
          </a:prstGeom>
          <a:noFill/>
          <a:ln>
            <a:noFill/>
          </a:ln>
        </p:spPr>
        <p:txBody>
          <a:bodyPr anchorCtr="0" anchor="t" bIns="0" lIns="0" spcFirstLastPara="1" rIns="0" wrap="square" tIns="13325">
            <a:spAutoFit/>
          </a:bodyPr>
          <a:lstStyle/>
          <a:p>
            <a:pPr indent="0" lvl="0" marL="14604" rtl="0" algn="l">
              <a:lnSpc>
                <a:spcPct val="100000"/>
              </a:lnSpc>
              <a:spcBef>
                <a:spcPts val="0"/>
              </a:spcBef>
              <a:spcAft>
                <a:spcPts val="0"/>
              </a:spcAft>
              <a:buNone/>
            </a:pPr>
            <a:r>
              <a:rPr lang="en-US" sz="3800"/>
              <a:t>PERATURAN SMP</a:t>
            </a:r>
            <a:endParaRPr sz="3800"/>
          </a:p>
        </p:txBody>
      </p:sp>
      <p:sp>
        <p:nvSpPr>
          <p:cNvPr id="45" name="Google Shape;45;p1"/>
          <p:cNvSpPr txBox="1"/>
          <p:nvPr/>
        </p:nvSpPr>
        <p:spPr>
          <a:xfrm>
            <a:off x="4166550" y="1713499"/>
            <a:ext cx="3858896" cy="566822"/>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solidFill>
                  <a:srgbClr val="404040"/>
                </a:solidFill>
                <a:latin typeface="Trebuchet MS"/>
                <a:ea typeface="Trebuchet MS"/>
                <a:cs typeface="Trebuchet MS"/>
                <a:sym typeface="Trebuchet MS"/>
              </a:rPr>
              <a:t>HONOR OF KINGS</a:t>
            </a:r>
            <a:endParaRPr sz="3600">
              <a:latin typeface="Trebuchet MS"/>
              <a:ea typeface="Trebuchet MS"/>
              <a:cs typeface="Trebuchet MS"/>
              <a:sym typeface="Trebuchet MS"/>
            </a:endParaRPr>
          </a:p>
        </p:txBody>
      </p:sp>
      <p:sp>
        <p:nvSpPr>
          <p:cNvPr id="46" name="Google Shape;46;p1"/>
          <p:cNvSpPr txBox="1"/>
          <p:nvPr/>
        </p:nvSpPr>
        <p:spPr>
          <a:xfrm>
            <a:off x="1524000" y="3657600"/>
            <a:ext cx="9067800" cy="566822"/>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3600">
                <a:solidFill>
                  <a:srgbClr val="404040"/>
                </a:solidFill>
                <a:latin typeface="Trebuchet MS"/>
                <a:ea typeface="Trebuchet MS"/>
                <a:cs typeface="Trebuchet MS"/>
                <a:sym typeface="Trebuchet MS"/>
              </a:rPr>
              <a:t>PORJAR KOTA DENPASAR 2026</a:t>
            </a:r>
            <a:endParaRPr sz="3600">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 name="Shape 50"/>
        <p:cNvGrpSpPr/>
        <p:nvPr/>
      </p:nvGrpSpPr>
      <p:grpSpPr>
        <a:xfrm>
          <a:off x="0" y="0"/>
          <a:ext cx="0" cy="0"/>
          <a:chOff x="0" y="0"/>
          <a:chExt cx="0" cy="0"/>
        </a:xfrm>
      </p:grpSpPr>
      <p:sp>
        <p:nvSpPr>
          <p:cNvPr id="51" name="Google Shape;51;p2"/>
          <p:cNvSpPr/>
          <p:nvPr/>
        </p:nvSpPr>
        <p:spPr>
          <a:xfrm>
            <a:off x="1368425" y="457200"/>
            <a:ext cx="9455150" cy="792480"/>
          </a:xfrm>
          <a:custGeom>
            <a:rect b="b" l="l" r="r" t="t"/>
            <a:pathLst>
              <a:path extrusionOk="0" h="792480" w="9455150">
                <a:moveTo>
                  <a:pt x="9439732" y="792467"/>
                </a:moveTo>
                <a:lnTo>
                  <a:pt x="15240" y="792467"/>
                </a:lnTo>
                <a:lnTo>
                  <a:pt x="12268" y="792175"/>
                </a:lnTo>
                <a:lnTo>
                  <a:pt x="0" y="777239"/>
                </a:lnTo>
                <a:lnTo>
                  <a:pt x="0" y="15239"/>
                </a:lnTo>
                <a:lnTo>
                  <a:pt x="15240" y="0"/>
                </a:lnTo>
                <a:lnTo>
                  <a:pt x="9439732" y="0"/>
                </a:lnTo>
                <a:lnTo>
                  <a:pt x="9454972" y="15239"/>
                </a:lnTo>
                <a:lnTo>
                  <a:pt x="30480" y="15239"/>
                </a:lnTo>
                <a:lnTo>
                  <a:pt x="15240" y="30467"/>
                </a:lnTo>
                <a:lnTo>
                  <a:pt x="30480" y="30467"/>
                </a:lnTo>
                <a:lnTo>
                  <a:pt x="30480" y="761999"/>
                </a:lnTo>
                <a:lnTo>
                  <a:pt x="15240" y="761999"/>
                </a:lnTo>
                <a:lnTo>
                  <a:pt x="30480" y="777239"/>
                </a:lnTo>
                <a:lnTo>
                  <a:pt x="9454972" y="777239"/>
                </a:lnTo>
                <a:lnTo>
                  <a:pt x="9454680" y="780211"/>
                </a:lnTo>
                <a:lnTo>
                  <a:pt x="9442704" y="792175"/>
                </a:lnTo>
                <a:lnTo>
                  <a:pt x="9439732" y="792467"/>
                </a:lnTo>
                <a:close/>
              </a:path>
              <a:path extrusionOk="0" h="792480" w="9455150">
                <a:moveTo>
                  <a:pt x="30480" y="30467"/>
                </a:moveTo>
                <a:lnTo>
                  <a:pt x="15240" y="30467"/>
                </a:lnTo>
                <a:lnTo>
                  <a:pt x="30480" y="15239"/>
                </a:lnTo>
                <a:lnTo>
                  <a:pt x="30480" y="30467"/>
                </a:lnTo>
                <a:close/>
              </a:path>
              <a:path extrusionOk="0" h="792480" w="9455150">
                <a:moveTo>
                  <a:pt x="9424504" y="30467"/>
                </a:moveTo>
                <a:lnTo>
                  <a:pt x="30480" y="30467"/>
                </a:lnTo>
                <a:lnTo>
                  <a:pt x="30480" y="15239"/>
                </a:lnTo>
                <a:lnTo>
                  <a:pt x="9424504" y="15239"/>
                </a:lnTo>
                <a:lnTo>
                  <a:pt x="9424504" y="30467"/>
                </a:lnTo>
                <a:close/>
              </a:path>
              <a:path extrusionOk="0" h="792480" w="9455150">
                <a:moveTo>
                  <a:pt x="9424504" y="777239"/>
                </a:moveTo>
                <a:lnTo>
                  <a:pt x="9424504" y="15239"/>
                </a:lnTo>
                <a:lnTo>
                  <a:pt x="9439732" y="30467"/>
                </a:lnTo>
                <a:lnTo>
                  <a:pt x="9454972" y="30467"/>
                </a:lnTo>
                <a:lnTo>
                  <a:pt x="9454972" y="761999"/>
                </a:lnTo>
                <a:lnTo>
                  <a:pt x="9439732" y="761999"/>
                </a:lnTo>
                <a:lnTo>
                  <a:pt x="9424504" y="777239"/>
                </a:lnTo>
                <a:close/>
              </a:path>
              <a:path extrusionOk="0" h="792480" w="9455150">
                <a:moveTo>
                  <a:pt x="9454972" y="30467"/>
                </a:moveTo>
                <a:lnTo>
                  <a:pt x="9439732" y="30467"/>
                </a:lnTo>
                <a:lnTo>
                  <a:pt x="9424504" y="15239"/>
                </a:lnTo>
                <a:lnTo>
                  <a:pt x="9454972" y="15239"/>
                </a:lnTo>
                <a:lnTo>
                  <a:pt x="9454972" y="30467"/>
                </a:lnTo>
                <a:close/>
              </a:path>
              <a:path extrusionOk="0" h="792480" w="9455150">
                <a:moveTo>
                  <a:pt x="30480" y="777239"/>
                </a:moveTo>
                <a:lnTo>
                  <a:pt x="15240" y="761999"/>
                </a:lnTo>
                <a:lnTo>
                  <a:pt x="30480" y="761999"/>
                </a:lnTo>
                <a:lnTo>
                  <a:pt x="30480" y="777239"/>
                </a:lnTo>
                <a:close/>
              </a:path>
              <a:path extrusionOk="0" h="792480" w="9455150">
                <a:moveTo>
                  <a:pt x="9424504" y="777239"/>
                </a:moveTo>
                <a:lnTo>
                  <a:pt x="30480" y="777239"/>
                </a:lnTo>
                <a:lnTo>
                  <a:pt x="30480" y="761999"/>
                </a:lnTo>
                <a:lnTo>
                  <a:pt x="9424504" y="761999"/>
                </a:lnTo>
                <a:lnTo>
                  <a:pt x="9424504" y="777239"/>
                </a:lnTo>
                <a:close/>
              </a:path>
              <a:path extrusionOk="0" h="792480" w="9455150">
                <a:moveTo>
                  <a:pt x="9454972" y="777239"/>
                </a:moveTo>
                <a:lnTo>
                  <a:pt x="9424504" y="777239"/>
                </a:lnTo>
                <a:lnTo>
                  <a:pt x="9439732" y="761999"/>
                </a:lnTo>
                <a:lnTo>
                  <a:pt x="9454972" y="761999"/>
                </a:lnTo>
                <a:lnTo>
                  <a:pt x="9454972" y="7772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2" name="Google Shape;52;p2"/>
          <p:cNvSpPr txBox="1"/>
          <p:nvPr>
            <p:ph type="title"/>
          </p:nvPr>
        </p:nvSpPr>
        <p:spPr>
          <a:xfrm>
            <a:off x="3025140" y="566420"/>
            <a:ext cx="6141720" cy="574039"/>
          </a:xfrm>
          <a:prstGeom prst="rect">
            <a:avLst/>
          </a:prstGeom>
          <a:noFill/>
          <a:ln>
            <a:noFill/>
          </a:ln>
        </p:spPr>
        <p:txBody>
          <a:bodyPr anchorCtr="0" anchor="t" bIns="0" lIns="0" spcFirstLastPara="1" rIns="0" wrap="square" tIns="99700">
            <a:spAutoFit/>
          </a:bodyPr>
          <a:lstStyle/>
          <a:p>
            <a:pPr indent="0" lvl="0" marL="1492885" rtl="0" algn="l">
              <a:lnSpc>
                <a:spcPct val="100000"/>
              </a:lnSpc>
              <a:spcBef>
                <a:spcPts val="0"/>
              </a:spcBef>
              <a:spcAft>
                <a:spcPts val="0"/>
              </a:spcAft>
              <a:buNone/>
            </a:pPr>
            <a:r>
              <a:rPr lang="en-US" sz="2800"/>
              <a:t>PERATURAN UMUM</a:t>
            </a:r>
            <a:endParaRPr sz="2800"/>
          </a:p>
        </p:txBody>
      </p:sp>
      <p:sp>
        <p:nvSpPr>
          <p:cNvPr id="53" name="Google Shape;53;p2"/>
          <p:cNvSpPr txBox="1"/>
          <p:nvPr/>
        </p:nvSpPr>
        <p:spPr>
          <a:xfrm>
            <a:off x="1382395" y="1371600"/>
            <a:ext cx="9438005" cy="4920193"/>
          </a:xfrm>
          <a:prstGeom prst="rect">
            <a:avLst/>
          </a:prstGeom>
          <a:noFill/>
          <a:ln>
            <a:noFill/>
          </a:ln>
        </p:spPr>
        <p:txBody>
          <a:bodyPr anchorCtr="0" anchor="t" bIns="0" lIns="0" spcFirstLastPara="1" rIns="0" wrap="square" tIns="133975">
            <a:spAutoFit/>
          </a:bodyPr>
          <a:lstStyle/>
          <a:p>
            <a:pPr indent="-342900" lvl="0" marL="355600" rtl="0" algn="just">
              <a:lnSpc>
                <a:spcPct val="150000"/>
              </a:lnSpc>
              <a:spcBef>
                <a:spcPts val="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Seluruh peserta diwajibkan untuk mengerti dan mengikuti seluruh peraturan yang berlaku.</a:t>
            </a:r>
            <a:endParaRPr sz="1600">
              <a:solidFill>
                <a:schemeClr val="dk1"/>
              </a:solidFill>
              <a:latin typeface="Times New Roman"/>
              <a:ea typeface="Times New Roman"/>
              <a:cs typeface="Times New Roman"/>
              <a:sym typeface="Times New Roman"/>
            </a:endParaRPr>
          </a:p>
          <a:p>
            <a:pPr indent="-342900" lvl="0" marL="355600" marR="28575" rtl="0" algn="just">
              <a:lnSpc>
                <a:spcPct val="150000"/>
              </a:lnSpc>
              <a:spcBef>
                <a:spcPts val="65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Dilarang menggunakan program pihak ketiga atau program illegal yang dapat mengganggu proses berjalannya turnamen.</a:t>
            </a:r>
            <a:endParaRPr sz="1600">
              <a:solidFill>
                <a:schemeClr val="dk1"/>
              </a:solidFill>
              <a:latin typeface="Times New Roman"/>
              <a:ea typeface="Times New Roman"/>
              <a:cs typeface="Times New Roman"/>
              <a:sym typeface="Times New Roman"/>
            </a:endParaRPr>
          </a:p>
          <a:p>
            <a:pPr indent="-342900" lvl="0" marL="355600" marR="28575" rtl="0" algn="just">
              <a:lnSpc>
                <a:spcPct val="150000"/>
              </a:lnSpc>
              <a:spcBef>
                <a:spcPts val="65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Peserta sudah berkumpul di area pertandingan. Tidak ada toleransi keterlambatan,  jika satu tim terdapat pemain yang tidak hadir maka yang bermain hanya anggota tim yang berada di area pertandingan.</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83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Semua peserta wajib berada di area pertandingan.</a:t>
            </a:r>
            <a:endParaRPr sz="1600">
              <a:solidFill>
                <a:schemeClr val="dk1"/>
              </a:solidFill>
              <a:latin typeface="Times New Roman"/>
              <a:ea typeface="Times New Roman"/>
              <a:cs typeface="Times New Roman"/>
              <a:sym typeface="Times New Roman"/>
            </a:endParaRPr>
          </a:p>
          <a:p>
            <a:pPr indent="-342900" lvl="0" marL="355600" marR="583565" rtl="0" algn="just">
              <a:lnSpc>
                <a:spcPct val="150000"/>
              </a:lnSpc>
              <a:spcBef>
                <a:spcPts val="1725"/>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Segala bentuk kelalaian yang disebabkan oleh peserta adalah di luar tanggung jawab panitia. Contoh: Error device dan lainnya.</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725"/>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Seluruh peserta tidak diizinkan untuk menggunakan dan memakai bug dengan sengaja.</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725"/>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Panitia bisa memberikan diskualifikasi kepada peserta selama turnamen sewaktu- waktu jika ada tindakan yang melanggar peraturan dan kelakuan buruk oleh peserta</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 name="Shape 57"/>
        <p:cNvGrpSpPr/>
        <p:nvPr/>
      </p:nvGrpSpPr>
      <p:grpSpPr>
        <a:xfrm>
          <a:off x="0" y="0"/>
          <a:ext cx="0" cy="0"/>
          <a:chOff x="0" y="0"/>
          <a:chExt cx="0" cy="0"/>
        </a:xfrm>
      </p:grpSpPr>
      <p:sp>
        <p:nvSpPr>
          <p:cNvPr id="58" name="Google Shape;58;p3"/>
          <p:cNvSpPr/>
          <p:nvPr/>
        </p:nvSpPr>
        <p:spPr>
          <a:xfrm>
            <a:off x="2215895" y="594359"/>
            <a:ext cx="7760334" cy="792480"/>
          </a:xfrm>
          <a:custGeom>
            <a:rect b="b" l="l" r="r" t="t"/>
            <a:pathLst>
              <a:path extrusionOk="0" h="792480" w="7760334">
                <a:moveTo>
                  <a:pt x="7745044" y="792479"/>
                </a:moveTo>
                <a:lnTo>
                  <a:pt x="15240" y="792479"/>
                </a:lnTo>
                <a:lnTo>
                  <a:pt x="12268" y="792187"/>
                </a:lnTo>
                <a:lnTo>
                  <a:pt x="0" y="777239"/>
                </a:lnTo>
                <a:lnTo>
                  <a:pt x="0" y="15239"/>
                </a:lnTo>
                <a:lnTo>
                  <a:pt x="15240" y="0"/>
                </a:lnTo>
                <a:lnTo>
                  <a:pt x="7745044" y="0"/>
                </a:lnTo>
                <a:lnTo>
                  <a:pt x="7760271" y="15239"/>
                </a:lnTo>
                <a:lnTo>
                  <a:pt x="30480" y="15239"/>
                </a:lnTo>
                <a:lnTo>
                  <a:pt x="15240" y="30479"/>
                </a:lnTo>
                <a:lnTo>
                  <a:pt x="30480" y="30479"/>
                </a:lnTo>
                <a:lnTo>
                  <a:pt x="30480" y="761999"/>
                </a:lnTo>
                <a:lnTo>
                  <a:pt x="15240" y="761999"/>
                </a:lnTo>
                <a:lnTo>
                  <a:pt x="30480" y="777239"/>
                </a:lnTo>
                <a:lnTo>
                  <a:pt x="7760271" y="777239"/>
                </a:lnTo>
                <a:lnTo>
                  <a:pt x="7759979" y="780211"/>
                </a:lnTo>
                <a:lnTo>
                  <a:pt x="7748015" y="792187"/>
                </a:lnTo>
                <a:lnTo>
                  <a:pt x="7745044" y="792479"/>
                </a:lnTo>
                <a:close/>
              </a:path>
              <a:path extrusionOk="0" h="792480" w="7760334">
                <a:moveTo>
                  <a:pt x="30480" y="30479"/>
                </a:moveTo>
                <a:lnTo>
                  <a:pt x="15240" y="30479"/>
                </a:lnTo>
                <a:lnTo>
                  <a:pt x="30480" y="15239"/>
                </a:lnTo>
                <a:lnTo>
                  <a:pt x="30480" y="30479"/>
                </a:lnTo>
                <a:close/>
              </a:path>
              <a:path extrusionOk="0" h="792480" w="7760334">
                <a:moveTo>
                  <a:pt x="7729804" y="30479"/>
                </a:moveTo>
                <a:lnTo>
                  <a:pt x="30480" y="30479"/>
                </a:lnTo>
                <a:lnTo>
                  <a:pt x="30480" y="15239"/>
                </a:lnTo>
                <a:lnTo>
                  <a:pt x="7729804" y="15239"/>
                </a:lnTo>
                <a:lnTo>
                  <a:pt x="7729804" y="30479"/>
                </a:lnTo>
                <a:close/>
              </a:path>
              <a:path extrusionOk="0" h="792480" w="7760334">
                <a:moveTo>
                  <a:pt x="7729804" y="777239"/>
                </a:moveTo>
                <a:lnTo>
                  <a:pt x="7729804" y="15239"/>
                </a:lnTo>
                <a:lnTo>
                  <a:pt x="7745044" y="30479"/>
                </a:lnTo>
                <a:lnTo>
                  <a:pt x="7760271" y="30479"/>
                </a:lnTo>
                <a:lnTo>
                  <a:pt x="7760271" y="762000"/>
                </a:lnTo>
                <a:lnTo>
                  <a:pt x="7745044" y="761999"/>
                </a:lnTo>
                <a:lnTo>
                  <a:pt x="7729804" y="777239"/>
                </a:lnTo>
                <a:close/>
              </a:path>
              <a:path extrusionOk="0" h="792480" w="7760334">
                <a:moveTo>
                  <a:pt x="7760271" y="30479"/>
                </a:moveTo>
                <a:lnTo>
                  <a:pt x="7745044" y="30479"/>
                </a:lnTo>
                <a:lnTo>
                  <a:pt x="7729804" y="15239"/>
                </a:lnTo>
                <a:lnTo>
                  <a:pt x="7760271" y="15239"/>
                </a:lnTo>
                <a:lnTo>
                  <a:pt x="7760271" y="30479"/>
                </a:lnTo>
                <a:close/>
              </a:path>
              <a:path extrusionOk="0" h="792480" w="7760334">
                <a:moveTo>
                  <a:pt x="30480" y="777239"/>
                </a:moveTo>
                <a:lnTo>
                  <a:pt x="15240" y="761999"/>
                </a:lnTo>
                <a:lnTo>
                  <a:pt x="30480" y="761999"/>
                </a:lnTo>
                <a:lnTo>
                  <a:pt x="30480" y="777239"/>
                </a:lnTo>
                <a:close/>
              </a:path>
              <a:path extrusionOk="0" h="792480" w="7760334">
                <a:moveTo>
                  <a:pt x="7729804" y="777239"/>
                </a:moveTo>
                <a:lnTo>
                  <a:pt x="30480" y="777239"/>
                </a:lnTo>
                <a:lnTo>
                  <a:pt x="30480" y="761999"/>
                </a:lnTo>
                <a:lnTo>
                  <a:pt x="7729804" y="761999"/>
                </a:lnTo>
                <a:lnTo>
                  <a:pt x="7729804" y="777239"/>
                </a:lnTo>
                <a:close/>
              </a:path>
              <a:path extrusionOk="0" h="792480" w="7760334">
                <a:moveTo>
                  <a:pt x="7760271" y="777239"/>
                </a:moveTo>
                <a:lnTo>
                  <a:pt x="7729804" y="777239"/>
                </a:lnTo>
                <a:lnTo>
                  <a:pt x="7745044" y="761999"/>
                </a:lnTo>
                <a:lnTo>
                  <a:pt x="7760271" y="762000"/>
                </a:lnTo>
                <a:lnTo>
                  <a:pt x="7760271" y="7772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9" name="Google Shape;59;p3"/>
          <p:cNvSpPr txBox="1"/>
          <p:nvPr>
            <p:ph type="title"/>
          </p:nvPr>
        </p:nvSpPr>
        <p:spPr>
          <a:xfrm>
            <a:off x="4472305" y="764857"/>
            <a:ext cx="3247390"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t>PERATURAN UMUM</a:t>
            </a:r>
            <a:endParaRPr sz="2800"/>
          </a:p>
        </p:txBody>
      </p:sp>
      <p:sp>
        <p:nvSpPr>
          <p:cNvPr id="60" name="Google Shape;60;p3"/>
          <p:cNvSpPr txBox="1"/>
          <p:nvPr/>
        </p:nvSpPr>
        <p:spPr>
          <a:xfrm>
            <a:off x="2296426" y="1511300"/>
            <a:ext cx="7679700" cy="5290500"/>
          </a:xfrm>
          <a:prstGeom prst="rect">
            <a:avLst/>
          </a:prstGeom>
          <a:noFill/>
          <a:ln>
            <a:noFill/>
          </a:ln>
        </p:spPr>
        <p:txBody>
          <a:bodyPr anchorCtr="0" anchor="t" bIns="0" lIns="0" spcFirstLastPara="1" rIns="0" wrap="square" tIns="12700">
            <a:spAutoFit/>
          </a:bodyPr>
          <a:lstStyle/>
          <a:p>
            <a:pPr indent="-342900" lvl="0" marL="355600" rtl="0" algn="l">
              <a:lnSpc>
                <a:spcPct val="150000"/>
              </a:lnSpc>
              <a:spcBef>
                <a:spcPts val="0"/>
              </a:spcBef>
              <a:spcAft>
                <a:spcPts val="0"/>
              </a:spcAft>
              <a:buSzPts val="2000"/>
              <a:buFont typeface="Calibri"/>
              <a:buAutoNum type="arabicPeriod"/>
            </a:pPr>
            <a:r>
              <a:rPr lang="en-US" sz="2000">
                <a:latin typeface="Times New Roman"/>
                <a:ea typeface="Times New Roman"/>
                <a:cs typeface="Times New Roman"/>
                <a:sym typeface="Times New Roman"/>
              </a:rPr>
              <a:t>Panitia bisa memberikan diskualifikasi kepada peserta selama turnamen</a:t>
            </a:r>
            <a:endParaRPr sz="2000">
              <a:latin typeface="Times New Roman"/>
              <a:ea typeface="Times New Roman"/>
              <a:cs typeface="Times New Roman"/>
              <a:sym typeface="Times New Roman"/>
            </a:endParaRPr>
          </a:p>
          <a:p>
            <a:pPr indent="-342900" lvl="0" marL="355600" rtl="0" algn="l">
              <a:lnSpc>
                <a:spcPct val="150000"/>
              </a:lnSpc>
              <a:spcBef>
                <a:spcPts val="100"/>
              </a:spcBef>
              <a:spcAft>
                <a:spcPts val="0"/>
              </a:spcAft>
              <a:buSzPts val="2000"/>
              <a:buFont typeface="Calibri"/>
              <a:buAutoNum type="arabicPeriod"/>
            </a:pPr>
            <a:r>
              <a:rPr lang="en-US" sz="2000">
                <a:latin typeface="Times New Roman"/>
                <a:ea typeface="Times New Roman"/>
                <a:cs typeface="Times New Roman"/>
                <a:sym typeface="Times New Roman"/>
              </a:rPr>
              <a:t>sewaktu-waktu jika ada tindakan yang melanggar peraturan dan kelakuan buruk oleh peserta.</a:t>
            </a:r>
            <a:endParaRPr/>
          </a:p>
          <a:p>
            <a:pPr indent="-342900" lvl="0" marL="356235" marR="823594" rtl="0" algn="l">
              <a:lnSpc>
                <a:spcPct val="150000"/>
              </a:lnSpc>
              <a:spcBef>
                <a:spcPts val="1445"/>
              </a:spcBef>
              <a:spcAft>
                <a:spcPts val="0"/>
              </a:spcAft>
              <a:buSzPts val="2000"/>
              <a:buFont typeface="Calibri"/>
              <a:buAutoNum type="arabicPeriod"/>
            </a:pPr>
            <a:r>
              <a:rPr lang="en-US" sz="2000">
                <a:latin typeface="Times New Roman"/>
                <a:ea typeface="Times New Roman"/>
                <a:cs typeface="Times New Roman"/>
                <a:sym typeface="Times New Roman"/>
              </a:rPr>
              <a:t>Hanya Ketua atau Perwakilan Team yang bergabung dalam Group Whatsapp.</a:t>
            </a:r>
            <a:endParaRPr/>
          </a:p>
          <a:p>
            <a:pPr indent="-342900" lvl="0" marL="35623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Peserta diwajibkan untuk berada di sekitar area pertandingan.</a:t>
            </a:r>
            <a:endParaRPr/>
          </a:p>
          <a:p>
            <a:pPr indent="-342900" lvl="0" marL="356235" marR="65341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Setelah menyelesaikan pertandingan, segera kirim screenshoot hasil pertandingan</a:t>
            </a:r>
            <a:endParaRPr sz="2000">
              <a:latin typeface="Times New Roman"/>
              <a:ea typeface="Times New Roman"/>
              <a:cs typeface="Times New Roman"/>
              <a:sym typeface="Times New Roman"/>
            </a:endParaRPr>
          </a:p>
          <a:p>
            <a:pPr indent="-342900" lvl="0" marL="356235" marR="65341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PANITIA HANYA MENYEDIAKAN CUK ROLL SUMBER</a:t>
            </a:r>
            <a:endParaRPr sz="2000">
              <a:latin typeface="Times New Roman"/>
              <a:ea typeface="Times New Roman"/>
              <a:cs typeface="Times New Roman"/>
              <a:sym typeface="Times New Roman"/>
            </a:endParaRPr>
          </a:p>
          <a:p>
            <a:pPr indent="-342900" lvl="0" marL="356235" marR="653415" rtl="0" algn="l">
              <a:lnSpc>
                <a:spcPct val="150000"/>
              </a:lnSpc>
              <a:spcBef>
                <a:spcPts val="1200"/>
              </a:spcBef>
              <a:spcAft>
                <a:spcPts val="0"/>
              </a:spcAft>
              <a:buSzPts val="2000"/>
              <a:buFont typeface="Times New Roman"/>
              <a:buAutoNum type="arabicPeriod"/>
            </a:pPr>
            <a:r>
              <a:rPr lang="en-US" sz="2000">
                <a:latin typeface="Times New Roman"/>
                <a:ea typeface="Times New Roman"/>
                <a:cs typeface="Times New Roman"/>
                <a:sym typeface="Times New Roman"/>
              </a:rPr>
              <a:t>Koneksi internet ditanggung oleh peserta</a:t>
            </a:r>
            <a:endParaRPr sz="20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 name="Shape 64"/>
        <p:cNvGrpSpPr/>
        <p:nvPr/>
      </p:nvGrpSpPr>
      <p:grpSpPr>
        <a:xfrm>
          <a:off x="0" y="0"/>
          <a:ext cx="0" cy="0"/>
          <a:chOff x="0" y="0"/>
          <a:chExt cx="0" cy="0"/>
        </a:xfrm>
      </p:grpSpPr>
      <p:sp>
        <p:nvSpPr>
          <p:cNvPr id="65" name="Google Shape;65;p4"/>
          <p:cNvSpPr/>
          <p:nvPr/>
        </p:nvSpPr>
        <p:spPr>
          <a:xfrm>
            <a:off x="2083117" y="356359"/>
            <a:ext cx="7761605" cy="1220470"/>
          </a:xfrm>
          <a:custGeom>
            <a:rect b="b" l="l" r="r" t="t"/>
            <a:pathLst>
              <a:path extrusionOk="0" h="1220470" w="7761605">
                <a:moveTo>
                  <a:pt x="7761478" y="0"/>
                </a:moveTo>
                <a:lnTo>
                  <a:pt x="7729728" y="0"/>
                </a:lnTo>
                <a:lnTo>
                  <a:pt x="7729728" y="31750"/>
                </a:lnTo>
                <a:lnTo>
                  <a:pt x="7729728" y="1188720"/>
                </a:lnTo>
                <a:lnTo>
                  <a:pt x="31750" y="1188720"/>
                </a:lnTo>
                <a:lnTo>
                  <a:pt x="31750" y="31750"/>
                </a:lnTo>
                <a:lnTo>
                  <a:pt x="7729728" y="31750"/>
                </a:lnTo>
                <a:lnTo>
                  <a:pt x="7729728" y="0"/>
                </a:lnTo>
                <a:lnTo>
                  <a:pt x="0" y="0"/>
                </a:lnTo>
                <a:lnTo>
                  <a:pt x="0" y="1220470"/>
                </a:lnTo>
                <a:lnTo>
                  <a:pt x="7761478" y="1220470"/>
                </a:lnTo>
                <a:lnTo>
                  <a:pt x="7761478" y="1204595"/>
                </a:lnTo>
                <a:lnTo>
                  <a:pt x="7761478" y="1188720"/>
                </a:lnTo>
                <a:lnTo>
                  <a:pt x="7761478" y="31750"/>
                </a:lnTo>
                <a:lnTo>
                  <a:pt x="7761478" y="15875"/>
                </a:lnTo>
                <a:lnTo>
                  <a:pt x="7761478" y="0"/>
                </a:lnTo>
                <a:close/>
              </a:path>
            </a:pathLst>
          </a:custGeom>
          <a:solidFill>
            <a:srgbClr val="3D3D3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6" name="Google Shape;66;p4"/>
          <p:cNvSpPr txBox="1"/>
          <p:nvPr>
            <p:ph type="title"/>
          </p:nvPr>
        </p:nvSpPr>
        <p:spPr>
          <a:xfrm>
            <a:off x="1524000" y="767716"/>
            <a:ext cx="7506716" cy="451484"/>
          </a:xfrm>
          <a:prstGeom prst="rect">
            <a:avLst/>
          </a:prstGeom>
          <a:noFill/>
          <a:ln>
            <a:noFill/>
          </a:ln>
        </p:spPr>
        <p:txBody>
          <a:bodyPr anchorCtr="0" anchor="t" bIns="0" lIns="0" spcFirstLastPara="1" rIns="0" wrap="square" tIns="12050">
            <a:spAutoFit/>
          </a:bodyPr>
          <a:lstStyle/>
          <a:p>
            <a:pPr indent="0" lvl="0" marL="2235835" rtl="0" algn="l">
              <a:lnSpc>
                <a:spcPct val="100000"/>
              </a:lnSpc>
              <a:spcBef>
                <a:spcPts val="0"/>
              </a:spcBef>
              <a:spcAft>
                <a:spcPts val="0"/>
              </a:spcAft>
              <a:buNone/>
            </a:pPr>
            <a:r>
              <a:rPr lang="en-US" sz="2800">
                <a:solidFill>
                  <a:srgbClr val="222222"/>
                </a:solidFill>
              </a:rPr>
              <a:t>KETENTUAN	PESERTA</a:t>
            </a:r>
            <a:endParaRPr sz="2800"/>
          </a:p>
        </p:txBody>
      </p:sp>
      <p:sp>
        <p:nvSpPr>
          <p:cNvPr id="67" name="Google Shape;67;p4"/>
          <p:cNvSpPr txBox="1"/>
          <p:nvPr/>
        </p:nvSpPr>
        <p:spPr>
          <a:xfrm>
            <a:off x="2023745" y="1828800"/>
            <a:ext cx="7880350" cy="3920753"/>
          </a:xfrm>
          <a:prstGeom prst="rect">
            <a:avLst/>
          </a:prstGeom>
          <a:noFill/>
          <a:ln>
            <a:noFill/>
          </a:ln>
        </p:spPr>
        <p:txBody>
          <a:bodyPr anchorCtr="0" anchor="t" bIns="0" lIns="0" spcFirstLastPara="1" rIns="0" wrap="square" tIns="13325">
            <a:spAutoFit/>
          </a:bodyPr>
          <a:lstStyle/>
          <a:p>
            <a:pPr indent="-457200" lvl="0" marL="469900" marR="8255" rtl="0" algn="just">
              <a:lnSpc>
                <a:spcPct val="150000"/>
              </a:lnSpc>
              <a:spcBef>
                <a:spcPts val="0"/>
              </a:spcBef>
              <a:spcAft>
                <a:spcPts val="0"/>
              </a:spcAft>
              <a:buSzPts val="2000"/>
              <a:buFont typeface="Times New Roman"/>
              <a:buAutoNum type="arabicPeriod"/>
            </a:pPr>
            <a:r>
              <a:rPr b="1" lang="en-US" sz="2000">
                <a:latin typeface="Times New Roman"/>
                <a:ea typeface="Times New Roman"/>
                <a:cs typeface="Times New Roman"/>
                <a:sym typeface="Times New Roman"/>
              </a:rPr>
              <a:t>Komposisi pemain dalam satu tim wajib siswa aktif dari satu sekolah yang sama</a:t>
            </a:r>
            <a:endParaRPr/>
          </a:p>
          <a:p>
            <a:pPr indent="-457200" lvl="0" marL="469900" marR="5080" rtl="0" algn="just">
              <a:lnSpc>
                <a:spcPct val="150000"/>
              </a:lnSpc>
              <a:spcBef>
                <a:spcPts val="700"/>
              </a:spcBef>
              <a:spcAft>
                <a:spcPts val="0"/>
              </a:spcAft>
              <a:buSzPts val="2000"/>
              <a:buFont typeface="Times New Roman"/>
              <a:buAutoNum type="arabicPeriod"/>
            </a:pPr>
            <a:r>
              <a:rPr b="1" lang="en-US" sz="2000">
                <a:latin typeface="Times New Roman"/>
                <a:ea typeface="Times New Roman"/>
                <a:cs typeface="Times New Roman"/>
                <a:sym typeface="Times New Roman"/>
              </a:rPr>
              <a:t>Peserta wajib menggunakan pakaian seragam sekolah dan menggunakan sepatu (WAJIB 1 TEAM MENGGUNAKAN 1 VARIASI PAKAIAN SEKOLAH TIDAK ADA YANG BERBEDA)</a:t>
            </a:r>
            <a:endParaRPr b="1" sz="2000">
              <a:latin typeface="Times New Roman"/>
              <a:ea typeface="Times New Roman"/>
              <a:cs typeface="Times New Roman"/>
              <a:sym typeface="Times New Roman"/>
            </a:endParaRPr>
          </a:p>
          <a:p>
            <a:pPr indent="-457200" lvl="0" marL="469900" marR="19050" rtl="0" algn="just">
              <a:lnSpc>
                <a:spcPct val="150000"/>
              </a:lnSpc>
              <a:spcBef>
                <a:spcPts val="700"/>
              </a:spcBef>
              <a:spcAft>
                <a:spcPts val="0"/>
              </a:spcAft>
              <a:buSzPts val="2000"/>
              <a:buFont typeface="Times New Roman"/>
              <a:buAutoNum type="arabicPeriod"/>
            </a:pPr>
            <a:r>
              <a:rPr b="1" lang="en-US" sz="2000">
                <a:latin typeface="Times New Roman"/>
                <a:ea typeface="Times New Roman"/>
                <a:cs typeface="Times New Roman"/>
                <a:sym typeface="Times New Roman"/>
              </a:rPr>
              <a:t>Peserta wajib membawa penanda identitas diri yaitu KARTU PELAJAR/ RAPOT DAN SURAT KETERANGAN SEKOLAH</a:t>
            </a:r>
            <a:endParaRPr b="1" sz="2000">
              <a:latin typeface="Times New Roman"/>
              <a:ea typeface="Times New Roman"/>
              <a:cs typeface="Times New Roman"/>
              <a:sym typeface="Times New Roman"/>
            </a:endParaRPr>
          </a:p>
          <a:p>
            <a:pPr indent="-457200" lvl="0" marL="469900" rtl="0" algn="just">
              <a:lnSpc>
                <a:spcPct val="150000"/>
              </a:lnSpc>
              <a:spcBef>
                <a:spcPts val="700"/>
              </a:spcBef>
              <a:spcAft>
                <a:spcPts val="0"/>
              </a:spcAft>
              <a:buSzPts val="2000"/>
              <a:buFont typeface="Times New Roman"/>
              <a:buAutoNum type="arabicPeriod"/>
            </a:pPr>
            <a:r>
              <a:rPr b="1" lang="en-US" sz="2000">
                <a:latin typeface="Times New Roman"/>
                <a:ea typeface="Times New Roman"/>
                <a:cs typeface="Times New Roman"/>
                <a:sym typeface="Times New Roman"/>
              </a:rPr>
              <a:t>Setiap Pemain hanya bisa bermain di satu tim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 name="Shape 71"/>
        <p:cNvGrpSpPr/>
        <p:nvPr/>
      </p:nvGrpSpPr>
      <p:grpSpPr>
        <a:xfrm>
          <a:off x="0" y="0"/>
          <a:ext cx="0" cy="0"/>
          <a:chOff x="0" y="0"/>
          <a:chExt cx="0" cy="0"/>
        </a:xfrm>
      </p:grpSpPr>
      <p:sp>
        <p:nvSpPr>
          <p:cNvPr id="72" name="Google Shape;72;p5"/>
          <p:cNvSpPr/>
          <p:nvPr/>
        </p:nvSpPr>
        <p:spPr>
          <a:xfrm>
            <a:off x="2294754" y="381101"/>
            <a:ext cx="7760334" cy="812800"/>
          </a:xfrm>
          <a:custGeom>
            <a:rect b="b" l="l" r="r" t="t"/>
            <a:pathLst>
              <a:path extrusionOk="0" h="812800" w="7760334">
                <a:moveTo>
                  <a:pt x="7745044" y="812279"/>
                </a:moveTo>
                <a:lnTo>
                  <a:pt x="15240" y="812279"/>
                </a:lnTo>
                <a:lnTo>
                  <a:pt x="12268" y="811987"/>
                </a:lnTo>
                <a:lnTo>
                  <a:pt x="0" y="797039"/>
                </a:lnTo>
                <a:lnTo>
                  <a:pt x="0" y="15240"/>
                </a:lnTo>
                <a:lnTo>
                  <a:pt x="15240" y="0"/>
                </a:lnTo>
                <a:lnTo>
                  <a:pt x="7745044" y="0"/>
                </a:lnTo>
                <a:lnTo>
                  <a:pt x="7760271" y="15240"/>
                </a:lnTo>
                <a:lnTo>
                  <a:pt x="30480" y="15240"/>
                </a:lnTo>
                <a:lnTo>
                  <a:pt x="15240" y="30480"/>
                </a:lnTo>
                <a:lnTo>
                  <a:pt x="30480" y="30480"/>
                </a:lnTo>
                <a:lnTo>
                  <a:pt x="30480" y="781799"/>
                </a:lnTo>
                <a:lnTo>
                  <a:pt x="15240" y="781799"/>
                </a:lnTo>
                <a:lnTo>
                  <a:pt x="30480" y="797039"/>
                </a:lnTo>
                <a:lnTo>
                  <a:pt x="7760271" y="797039"/>
                </a:lnTo>
                <a:lnTo>
                  <a:pt x="7759979" y="800011"/>
                </a:lnTo>
                <a:lnTo>
                  <a:pt x="7748015" y="811987"/>
                </a:lnTo>
                <a:lnTo>
                  <a:pt x="7745044" y="812279"/>
                </a:lnTo>
                <a:close/>
              </a:path>
              <a:path extrusionOk="0" h="812800" w="7760334">
                <a:moveTo>
                  <a:pt x="30480" y="30480"/>
                </a:moveTo>
                <a:lnTo>
                  <a:pt x="15240" y="30480"/>
                </a:lnTo>
                <a:lnTo>
                  <a:pt x="30480" y="15240"/>
                </a:lnTo>
                <a:lnTo>
                  <a:pt x="30480" y="30480"/>
                </a:lnTo>
                <a:close/>
              </a:path>
              <a:path extrusionOk="0" h="812800" w="7760334">
                <a:moveTo>
                  <a:pt x="7729804" y="30480"/>
                </a:moveTo>
                <a:lnTo>
                  <a:pt x="30480" y="30480"/>
                </a:lnTo>
                <a:lnTo>
                  <a:pt x="30480" y="15240"/>
                </a:lnTo>
                <a:lnTo>
                  <a:pt x="7729804" y="15240"/>
                </a:lnTo>
                <a:lnTo>
                  <a:pt x="7729804" y="30480"/>
                </a:lnTo>
                <a:close/>
              </a:path>
              <a:path extrusionOk="0" h="812800" w="7760334">
                <a:moveTo>
                  <a:pt x="7729804" y="797039"/>
                </a:moveTo>
                <a:lnTo>
                  <a:pt x="7729804" y="15240"/>
                </a:lnTo>
                <a:lnTo>
                  <a:pt x="7745044" y="30480"/>
                </a:lnTo>
                <a:lnTo>
                  <a:pt x="7760271" y="30480"/>
                </a:lnTo>
                <a:lnTo>
                  <a:pt x="7760271" y="781799"/>
                </a:lnTo>
                <a:lnTo>
                  <a:pt x="7745044" y="781799"/>
                </a:lnTo>
                <a:lnTo>
                  <a:pt x="7729804" y="797039"/>
                </a:lnTo>
                <a:close/>
              </a:path>
              <a:path extrusionOk="0" h="812800" w="7760334">
                <a:moveTo>
                  <a:pt x="7760271" y="30480"/>
                </a:moveTo>
                <a:lnTo>
                  <a:pt x="7745044" y="30480"/>
                </a:lnTo>
                <a:lnTo>
                  <a:pt x="7729804" y="15240"/>
                </a:lnTo>
                <a:lnTo>
                  <a:pt x="7760271" y="15240"/>
                </a:lnTo>
                <a:lnTo>
                  <a:pt x="7760271" y="30480"/>
                </a:lnTo>
                <a:close/>
              </a:path>
              <a:path extrusionOk="0" h="812800" w="7760334">
                <a:moveTo>
                  <a:pt x="30480" y="797039"/>
                </a:moveTo>
                <a:lnTo>
                  <a:pt x="15240" y="781799"/>
                </a:lnTo>
                <a:lnTo>
                  <a:pt x="30480" y="781799"/>
                </a:lnTo>
                <a:lnTo>
                  <a:pt x="30480" y="797039"/>
                </a:lnTo>
                <a:close/>
              </a:path>
              <a:path extrusionOk="0" h="812800" w="7760334">
                <a:moveTo>
                  <a:pt x="7729804" y="797039"/>
                </a:moveTo>
                <a:lnTo>
                  <a:pt x="30480" y="797039"/>
                </a:lnTo>
                <a:lnTo>
                  <a:pt x="30480" y="781799"/>
                </a:lnTo>
                <a:lnTo>
                  <a:pt x="7729804" y="781799"/>
                </a:lnTo>
                <a:lnTo>
                  <a:pt x="7729804" y="797039"/>
                </a:lnTo>
                <a:close/>
              </a:path>
              <a:path extrusionOk="0" h="812800" w="7760334">
                <a:moveTo>
                  <a:pt x="7760271" y="797039"/>
                </a:moveTo>
                <a:lnTo>
                  <a:pt x="7729804" y="797039"/>
                </a:lnTo>
                <a:lnTo>
                  <a:pt x="7745044" y="781799"/>
                </a:lnTo>
                <a:lnTo>
                  <a:pt x="7760271" y="781799"/>
                </a:lnTo>
                <a:lnTo>
                  <a:pt x="7760271" y="7970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 name="Google Shape;73;p5"/>
          <p:cNvSpPr txBox="1"/>
          <p:nvPr>
            <p:ph type="title"/>
          </p:nvPr>
        </p:nvSpPr>
        <p:spPr>
          <a:xfrm>
            <a:off x="3329940" y="530326"/>
            <a:ext cx="5532120" cy="51435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3200"/>
              <a:t>PENALTI/DISKUALIFIKASI/WO</a:t>
            </a:r>
            <a:endParaRPr sz="3200"/>
          </a:p>
        </p:txBody>
      </p:sp>
      <p:sp>
        <p:nvSpPr>
          <p:cNvPr id="74" name="Google Shape;74;p5"/>
          <p:cNvSpPr txBox="1"/>
          <p:nvPr/>
        </p:nvSpPr>
        <p:spPr>
          <a:xfrm>
            <a:off x="1367675" y="1193900"/>
            <a:ext cx="9198600" cy="5493300"/>
          </a:xfrm>
          <a:prstGeom prst="rect">
            <a:avLst/>
          </a:prstGeom>
          <a:noFill/>
          <a:ln>
            <a:noFill/>
          </a:ln>
        </p:spPr>
        <p:txBody>
          <a:bodyPr anchorCtr="0" anchor="t" bIns="0" lIns="0" spcFirstLastPara="1" rIns="0" wrap="square" tIns="12700">
            <a:spAutoFit/>
          </a:bodyPr>
          <a:lstStyle/>
          <a:p>
            <a:pPr indent="-342900" lvl="0" marL="355600" marR="386080" rtl="0" algn="l">
              <a:lnSpc>
                <a:spcPct val="109900"/>
              </a:lnSpc>
              <a:spcBef>
                <a:spcPts val="0"/>
              </a:spcBef>
              <a:spcAft>
                <a:spcPts val="0"/>
              </a:spcAft>
              <a:buSzPts val="1800"/>
              <a:buFont typeface="Calibri"/>
              <a:buAutoNum type="arabicPeriod"/>
            </a:pPr>
            <a:r>
              <a:rPr lang="en-US" sz="1800">
                <a:latin typeface="Times New Roman"/>
                <a:ea typeface="Times New Roman"/>
                <a:cs typeface="Times New Roman"/>
                <a:sym typeface="Times New Roman"/>
              </a:rPr>
              <a:t>Jika peserta bermain menggunakan ID lain tanpa konfirmasi ke panitia, maka peserta bisa didiskualifikasi.</a:t>
            </a:r>
            <a:endParaRPr/>
          </a:p>
          <a:p>
            <a:pPr indent="-342900" lvl="0" marL="355600" marR="5080" rtl="0" algn="just">
              <a:lnSpc>
                <a:spcPct val="103899"/>
              </a:lnSpc>
              <a:spcBef>
                <a:spcPts val="1100"/>
              </a:spcBef>
              <a:spcAft>
                <a:spcPts val="0"/>
              </a:spcAft>
              <a:buSzPts val="1800"/>
              <a:buFont typeface="Calibri"/>
              <a:buAutoNum type="arabicPeriod"/>
            </a:pPr>
            <a:r>
              <a:rPr lang="en-US" sz="1800">
                <a:latin typeface="Times New Roman"/>
                <a:ea typeface="Times New Roman"/>
                <a:cs typeface="Times New Roman"/>
                <a:sym typeface="Times New Roman"/>
              </a:rPr>
              <a:t>Jika melewati waktu keterlambatan maka akan di diskualifikasi Jika ada peserta yang ketahuan memakai program ilegal, peserta tersebut akan diberikan sanksi berupa ban ID, diskualifikasi dan hak untuk keikutsertaan dalam turnamen komunitas.</a:t>
            </a:r>
            <a:endParaRPr/>
          </a:p>
          <a:p>
            <a:pPr indent="-342900" lvl="0" marL="355600" marR="717550" rtl="0" algn="l">
              <a:lnSpc>
                <a:spcPct val="100800"/>
              </a:lnSpc>
              <a:spcBef>
                <a:spcPts val="1080"/>
              </a:spcBef>
              <a:spcAft>
                <a:spcPts val="0"/>
              </a:spcAft>
              <a:buSzPts val="1800"/>
              <a:buFont typeface="Calibri"/>
              <a:buAutoNum type="arabicPeriod"/>
            </a:pPr>
            <a:r>
              <a:rPr lang="en-US" sz="1800">
                <a:latin typeface="Times New Roman"/>
                <a:ea typeface="Times New Roman"/>
                <a:cs typeface="Times New Roman"/>
                <a:sym typeface="Times New Roman"/>
              </a:rPr>
              <a:t>Jika ketahuan menggunakan bug secara sengaja oleh pihak panitia maka peserta tersebut akan di diskualifikasi.</a:t>
            </a:r>
            <a:endParaRPr/>
          </a:p>
          <a:p>
            <a:pPr indent="-342900" lvl="0" marL="355600" marR="202565" rtl="0" algn="l">
              <a:lnSpc>
                <a:spcPct val="115900"/>
              </a:lnSpc>
              <a:spcBef>
                <a:spcPts val="620"/>
              </a:spcBef>
              <a:spcAft>
                <a:spcPts val="0"/>
              </a:spcAft>
              <a:buSzPts val="1800"/>
              <a:buFont typeface="Calibri"/>
              <a:buAutoNum type="arabicPeriod"/>
            </a:pPr>
            <a:r>
              <a:rPr lang="en-US" sz="1800">
                <a:latin typeface="Times New Roman"/>
                <a:ea typeface="Times New Roman"/>
                <a:cs typeface="Times New Roman"/>
                <a:sym typeface="Times New Roman"/>
              </a:rPr>
              <a:t>Panitia berhak mendiskualifikasi pemain yang bertindak kasar atau tidak sopan terhadap sesama player atau panitia.</a:t>
            </a:r>
            <a:endParaRPr/>
          </a:p>
          <a:p>
            <a:pPr indent="-342900" lvl="0" marL="355600" marR="274955" rtl="0" algn="l">
              <a:lnSpc>
                <a:spcPct val="106000"/>
              </a:lnSpc>
              <a:spcBef>
                <a:spcPts val="1060"/>
              </a:spcBef>
              <a:spcAft>
                <a:spcPts val="0"/>
              </a:spcAft>
              <a:buSzPts val="1800"/>
              <a:buFont typeface="Calibri"/>
              <a:buAutoNum type="arabicPeriod"/>
            </a:pPr>
            <a:r>
              <a:rPr lang="en-US" sz="1800">
                <a:latin typeface="Times New Roman"/>
                <a:ea typeface="Times New Roman"/>
                <a:cs typeface="Times New Roman"/>
                <a:sym typeface="Times New Roman"/>
              </a:rPr>
              <a:t>Pelanggaran Format Turnamen akan diberikan 1x peringatan, jika mendapatkan 3x peringatan akan terkena pengurangan point atau keluar dari area pertandingan(WO)</a:t>
            </a:r>
            <a:endParaRPr/>
          </a:p>
          <a:p>
            <a:pPr indent="-342900" lvl="0" marL="355600" rtl="0" algn="l">
              <a:lnSpc>
                <a:spcPct val="100000"/>
              </a:lnSpc>
              <a:spcBef>
                <a:spcPts val="1495"/>
              </a:spcBef>
              <a:spcAft>
                <a:spcPts val="0"/>
              </a:spcAft>
              <a:buSzPts val="1800"/>
              <a:buFont typeface="Calibri"/>
              <a:buAutoNum type="arabicPeriod"/>
            </a:pPr>
            <a:r>
              <a:rPr lang="en-US" sz="1800">
                <a:latin typeface="Times New Roman"/>
                <a:ea typeface="Times New Roman"/>
                <a:cs typeface="Times New Roman"/>
                <a:sym typeface="Times New Roman"/>
              </a:rPr>
              <a:t>Peserta dilarang bermain pada lebih dari satu tim.</a:t>
            </a:r>
            <a:endParaRPr sz="1800">
              <a:latin typeface="Times New Roman"/>
              <a:ea typeface="Times New Roman"/>
              <a:cs typeface="Times New Roman"/>
              <a:sym typeface="Times New Roman"/>
            </a:endParaRPr>
          </a:p>
          <a:p>
            <a:pPr indent="0" lvl="0" marL="457200" marR="5080" rtl="0" algn="just">
              <a:spcBef>
                <a:spcPts val="1815"/>
              </a:spcBef>
              <a:spcAft>
                <a:spcPts val="0"/>
              </a:spcAft>
              <a:buNone/>
            </a:pPr>
            <a:r>
              <a:rPr lang="en-US" sz="1800">
                <a:solidFill>
                  <a:srgbClr val="252525"/>
                </a:solidFill>
                <a:latin typeface="Trebuchet MS"/>
                <a:ea typeface="Trebuchet MS"/>
                <a:cs typeface="Trebuchet MS"/>
                <a:sym typeface="Trebuchet MS"/>
              </a:rPr>
              <a:t>Dilarang keras menggunakan joki. jika ketahuan menggunakan joki maka dari pihak panitia melakukan WO ditempat</a:t>
            </a:r>
            <a:endParaRPr sz="1800">
              <a:solidFill>
                <a:srgbClr val="252525"/>
              </a:solidFill>
              <a:latin typeface="Trebuchet MS"/>
              <a:ea typeface="Trebuchet MS"/>
              <a:cs typeface="Trebuchet MS"/>
              <a:sym typeface="Trebuchet MS"/>
            </a:endParaRPr>
          </a:p>
          <a:p>
            <a:pPr indent="0" lvl="0" marL="457200" rtl="0" algn="l">
              <a:lnSpc>
                <a:spcPct val="100000"/>
              </a:lnSpc>
              <a:spcBef>
                <a:spcPts val="1495"/>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 name="Shape 78"/>
        <p:cNvGrpSpPr/>
        <p:nvPr/>
      </p:nvGrpSpPr>
      <p:grpSpPr>
        <a:xfrm>
          <a:off x="0" y="0"/>
          <a:ext cx="0" cy="0"/>
          <a:chOff x="0" y="0"/>
          <a:chExt cx="0" cy="0"/>
        </a:xfrm>
      </p:grpSpPr>
      <p:sp>
        <p:nvSpPr>
          <p:cNvPr id="79" name="Google Shape;79;p6"/>
          <p:cNvSpPr/>
          <p:nvPr/>
        </p:nvSpPr>
        <p:spPr>
          <a:xfrm>
            <a:off x="2345372" y="1441703"/>
            <a:ext cx="7630795" cy="673100"/>
          </a:xfrm>
          <a:custGeom>
            <a:rect b="b" l="l" r="r" t="t"/>
            <a:pathLst>
              <a:path extrusionOk="0" h="673100" w="7630795">
                <a:moveTo>
                  <a:pt x="7615555" y="672960"/>
                </a:moveTo>
                <a:lnTo>
                  <a:pt x="15239" y="672960"/>
                </a:lnTo>
                <a:lnTo>
                  <a:pt x="12268" y="672668"/>
                </a:lnTo>
                <a:lnTo>
                  <a:pt x="0" y="657720"/>
                </a:lnTo>
                <a:lnTo>
                  <a:pt x="0" y="15240"/>
                </a:lnTo>
                <a:lnTo>
                  <a:pt x="15239" y="0"/>
                </a:lnTo>
                <a:lnTo>
                  <a:pt x="7615555" y="0"/>
                </a:lnTo>
                <a:lnTo>
                  <a:pt x="7630794" y="15240"/>
                </a:lnTo>
                <a:lnTo>
                  <a:pt x="30479" y="15240"/>
                </a:lnTo>
                <a:lnTo>
                  <a:pt x="15239" y="30480"/>
                </a:lnTo>
                <a:lnTo>
                  <a:pt x="30479" y="30480"/>
                </a:lnTo>
                <a:lnTo>
                  <a:pt x="30479" y="642480"/>
                </a:lnTo>
                <a:lnTo>
                  <a:pt x="15239" y="642480"/>
                </a:lnTo>
                <a:lnTo>
                  <a:pt x="30479" y="657720"/>
                </a:lnTo>
                <a:lnTo>
                  <a:pt x="7630794" y="657720"/>
                </a:lnTo>
                <a:lnTo>
                  <a:pt x="7630502" y="660692"/>
                </a:lnTo>
                <a:lnTo>
                  <a:pt x="7618526" y="672668"/>
                </a:lnTo>
                <a:lnTo>
                  <a:pt x="7615555" y="672960"/>
                </a:lnTo>
                <a:close/>
              </a:path>
              <a:path extrusionOk="0" h="673100" w="7630795">
                <a:moveTo>
                  <a:pt x="30479" y="30480"/>
                </a:moveTo>
                <a:lnTo>
                  <a:pt x="15239" y="30480"/>
                </a:lnTo>
                <a:lnTo>
                  <a:pt x="30479" y="15240"/>
                </a:lnTo>
                <a:lnTo>
                  <a:pt x="30479" y="30480"/>
                </a:lnTo>
                <a:close/>
              </a:path>
              <a:path extrusionOk="0" h="673100" w="7630795">
                <a:moveTo>
                  <a:pt x="7600315" y="30480"/>
                </a:moveTo>
                <a:lnTo>
                  <a:pt x="30479" y="30480"/>
                </a:lnTo>
                <a:lnTo>
                  <a:pt x="30479" y="15240"/>
                </a:lnTo>
                <a:lnTo>
                  <a:pt x="7600315" y="15240"/>
                </a:lnTo>
                <a:lnTo>
                  <a:pt x="7600315" y="30480"/>
                </a:lnTo>
                <a:close/>
              </a:path>
              <a:path extrusionOk="0" h="673100" w="7630795">
                <a:moveTo>
                  <a:pt x="7600315" y="657720"/>
                </a:moveTo>
                <a:lnTo>
                  <a:pt x="7600315" y="15240"/>
                </a:lnTo>
                <a:lnTo>
                  <a:pt x="7615555" y="30480"/>
                </a:lnTo>
                <a:lnTo>
                  <a:pt x="7630794" y="30480"/>
                </a:lnTo>
                <a:lnTo>
                  <a:pt x="7630794" y="642480"/>
                </a:lnTo>
                <a:lnTo>
                  <a:pt x="7615555" y="642480"/>
                </a:lnTo>
                <a:lnTo>
                  <a:pt x="7600315" y="657720"/>
                </a:lnTo>
                <a:close/>
              </a:path>
              <a:path extrusionOk="0" h="673100" w="7630795">
                <a:moveTo>
                  <a:pt x="7630794" y="30480"/>
                </a:moveTo>
                <a:lnTo>
                  <a:pt x="7615555" y="30480"/>
                </a:lnTo>
                <a:lnTo>
                  <a:pt x="7600315" y="15240"/>
                </a:lnTo>
                <a:lnTo>
                  <a:pt x="7630794" y="15240"/>
                </a:lnTo>
                <a:lnTo>
                  <a:pt x="7630794" y="30480"/>
                </a:lnTo>
                <a:close/>
              </a:path>
              <a:path extrusionOk="0" h="673100" w="7630795">
                <a:moveTo>
                  <a:pt x="30479" y="657720"/>
                </a:moveTo>
                <a:lnTo>
                  <a:pt x="15239" y="642480"/>
                </a:lnTo>
                <a:lnTo>
                  <a:pt x="30479" y="642480"/>
                </a:lnTo>
                <a:lnTo>
                  <a:pt x="30479" y="657720"/>
                </a:lnTo>
                <a:close/>
              </a:path>
              <a:path extrusionOk="0" h="673100" w="7630795">
                <a:moveTo>
                  <a:pt x="7600315" y="657720"/>
                </a:moveTo>
                <a:lnTo>
                  <a:pt x="30479" y="657720"/>
                </a:lnTo>
                <a:lnTo>
                  <a:pt x="30479" y="642480"/>
                </a:lnTo>
                <a:lnTo>
                  <a:pt x="7600315" y="642480"/>
                </a:lnTo>
                <a:lnTo>
                  <a:pt x="7600315" y="657720"/>
                </a:lnTo>
                <a:close/>
              </a:path>
              <a:path extrusionOk="0" h="673100" w="7630795">
                <a:moveTo>
                  <a:pt x="7630794" y="657720"/>
                </a:moveTo>
                <a:lnTo>
                  <a:pt x="7600315" y="657720"/>
                </a:lnTo>
                <a:lnTo>
                  <a:pt x="7615555" y="642480"/>
                </a:lnTo>
                <a:lnTo>
                  <a:pt x="7630794" y="642480"/>
                </a:lnTo>
                <a:lnTo>
                  <a:pt x="7630794" y="657720"/>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0" name="Google Shape;80;p6"/>
          <p:cNvSpPr txBox="1"/>
          <p:nvPr>
            <p:ph type="title"/>
          </p:nvPr>
        </p:nvSpPr>
        <p:spPr>
          <a:xfrm>
            <a:off x="3860482" y="1415033"/>
            <a:ext cx="4599940"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KLAIM	TURNAMEN</a:t>
            </a:r>
            <a:endParaRPr sz="4000"/>
          </a:p>
        </p:txBody>
      </p:sp>
      <p:sp>
        <p:nvSpPr>
          <p:cNvPr id="81" name="Google Shape;81;p6"/>
          <p:cNvSpPr txBox="1"/>
          <p:nvPr/>
        </p:nvSpPr>
        <p:spPr>
          <a:xfrm>
            <a:off x="2310129" y="2434158"/>
            <a:ext cx="7613650" cy="2372360"/>
          </a:xfrm>
          <a:prstGeom prst="rect">
            <a:avLst/>
          </a:prstGeom>
          <a:noFill/>
          <a:ln>
            <a:noFill/>
          </a:ln>
        </p:spPr>
        <p:txBody>
          <a:bodyPr anchorCtr="0" anchor="t" bIns="0" lIns="0" spcFirstLastPara="1" rIns="0" wrap="square" tIns="12700">
            <a:spAutoFit/>
          </a:bodyPr>
          <a:lstStyle/>
          <a:p>
            <a:pPr indent="0" lvl="0" marL="12700" marR="5080" rtl="0" algn="just">
              <a:lnSpc>
                <a:spcPct val="106900"/>
              </a:lnSpc>
              <a:spcBef>
                <a:spcPts val="0"/>
              </a:spcBef>
              <a:spcAft>
                <a:spcPts val="0"/>
              </a:spcAft>
              <a:buNone/>
            </a:pPr>
            <a:r>
              <a:rPr lang="en-US" sz="1800">
                <a:solidFill>
                  <a:srgbClr val="222222"/>
                </a:solidFill>
                <a:latin typeface="Trebuchet MS"/>
                <a:ea typeface="Trebuchet MS"/>
                <a:cs typeface="Trebuchet MS"/>
                <a:sym typeface="Trebuchet MS"/>
              </a:rPr>
              <a:t>Seluruh keputusan dari panitia bersifat mutlak dan tidak bisa diganggu gugat. Panitia berhak untuk merubah dan mengganti seluruh peraturan yang berlaku sewaktu-waktu  tanpa  ada  pemberitahuan  terlebih dahulu  untuk  menjaga kelangsungan turnamen. Seluruh peserta yang ingin mengajukan klaim atau protes wajib  menyediakan  bukti  berupa foto  atau  video  kepada  panitia.  Dengan mendaftar  turnamen  ini, seluruh peserta dianggap mengerti dan menyetujui seluruh ketentuan dan peraturan yang berlaku dengan segala konsekuensinya.</a:t>
            </a:r>
            <a:endParaRPr sz="1800">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5" name="Shape 85"/>
        <p:cNvGrpSpPr/>
        <p:nvPr/>
      </p:nvGrpSpPr>
      <p:grpSpPr>
        <a:xfrm>
          <a:off x="0" y="0"/>
          <a:ext cx="0" cy="0"/>
          <a:chOff x="0" y="0"/>
          <a:chExt cx="0" cy="0"/>
        </a:xfrm>
      </p:grpSpPr>
      <p:sp>
        <p:nvSpPr>
          <p:cNvPr id="86" name="Google Shape;86;p7"/>
          <p:cNvSpPr/>
          <p:nvPr/>
        </p:nvSpPr>
        <p:spPr>
          <a:xfrm>
            <a:off x="2215769" y="947927"/>
            <a:ext cx="7760334" cy="836294"/>
          </a:xfrm>
          <a:custGeom>
            <a:rect b="b" l="l" r="r" t="t"/>
            <a:pathLst>
              <a:path extrusionOk="0" h="836294" w="7760334">
                <a:moveTo>
                  <a:pt x="7745044" y="835977"/>
                </a:moveTo>
                <a:lnTo>
                  <a:pt x="15239" y="835977"/>
                </a:lnTo>
                <a:lnTo>
                  <a:pt x="12268" y="835685"/>
                </a:lnTo>
                <a:lnTo>
                  <a:pt x="0" y="820737"/>
                </a:lnTo>
                <a:lnTo>
                  <a:pt x="0" y="15240"/>
                </a:lnTo>
                <a:lnTo>
                  <a:pt x="15239" y="0"/>
                </a:lnTo>
                <a:lnTo>
                  <a:pt x="7745044" y="0"/>
                </a:lnTo>
                <a:lnTo>
                  <a:pt x="7760284" y="15240"/>
                </a:lnTo>
                <a:lnTo>
                  <a:pt x="30480" y="15240"/>
                </a:lnTo>
                <a:lnTo>
                  <a:pt x="15239" y="30480"/>
                </a:lnTo>
                <a:lnTo>
                  <a:pt x="30480" y="30480"/>
                </a:lnTo>
                <a:lnTo>
                  <a:pt x="30480" y="805497"/>
                </a:lnTo>
                <a:lnTo>
                  <a:pt x="15239" y="805497"/>
                </a:lnTo>
                <a:lnTo>
                  <a:pt x="30480" y="820737"/>
                </a:lnTo>
                <a:lnTo>
                  <a:pt x="7760284" y="820737"/>
                </a:lnTo>
                <a:lnTo>
                  <a:pt x="7759979" y="823709"/>
                </a:lnTo>
                <a:lnTo>
                  <a:pt x="7748015" y="835685"/>
                </a:lnTo>
                <a:lnTo>
                  <a:pt x="7745044" y="835977"/>
                </a:lnTo>
                <a:close/>
              </a:path>
              <a:path extrusionOk="0" h="836294" w="7760334">
                <a:moveTo>
                  <a:pt x="30480" y="30480"/>
                </a:moveTo>
                <a:lnTo>
                  <a:pt x="15239"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84" y="30480"/>
                </a:lnTo>
                <a:lnTo>
                  <a:pt x="7760284" y="805497"/>
                </a:lnTo>
                <a:lnTo>
                  <a:pt x="7745044" y="805497"/>
                </a:lnTo>
                <a:lnTo>
                  <a:pt x="7729804" y="820737"/>
                </a:lnTo>
                <a:close/>
              </a:path>
              <a:path extrusionOk="0" h="836294" w="7760334">
                <a:moveTo>
                  <a:pt x="7760284" y="30480"/>
                </a:moveTo>
                <a:lnTo>
                  <a:pt x="7745044" y="30480"/>
                </a:lnTo>
                <a:lnTo>
                  <a:pt x="7729804" y="15240"/>
                </a:lnTo>
                <a:lnTo>
                  <a:pt x="7760284" y="15240"/>
                </a:lnTo>
                <a:lnTo>
                  <a:pt x="7760284" y="30480"/>
                </a:lnTo>
                <a:close/>
              </a:path>
              <a:path extrusionOk="0" h="836294" w="7760334">
                <a:moveTo>
                  <a:pt x="30480" y="820737"/>
                </a:moveTo>
                <a:lnTo>
                  <a:pt x="15239"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84" y="820737"/>
                </a:moveTo>
                <a:lnTo>
                  <a:pt x="7729804" y="820737"/>
                </a:lnTo>
                <a:lnTo>
                  <a:pt x="7745044" y="805497"/>
                </a:lnTo>
                <a:lnTo>
                  <a:pt x="7760284" y="805497"/>
                </a:lnTo>
                <a:lnTo>
                  <a:pt x="7760284" y="820737"/>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7" name="Google Shape;87;p7"/>
          <p:cNvSpPr txBox="1"/>
          <p:nvPr>
            <p:ph type="title"/>
          </p:nvPr>
        </p:nvSpPr>
        <p:spPr>
          <a:xfrm>
            <a:off x="3160141" y="1162558"/>
            <a:ext cx="6141720" cy="5740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PERATURAN PERTANDINGAN</a:t>
            </a:r>
            <a:endParaRPr/>
          </a:p>
        </p:txBody>
      </p:sp>
      <p:sp>
        <p:nvSpPr>
          <p:cNvPr id="88" name="Google Shape;88;p7"/>
          <p:cNvSpPr txBox="1"/>
          <p:nvPr/>
        </p:nvSpPr>
        <p:spPr>
          <a:xfrm>
            <a:off x="2501264" y="1889378"/>
            <a:ext cx="7047300" cy="4111500"/>
          </a:xfrm>
          <a:prstGeom prst="rect">
            <a:avLst/>
          </a:prstGeom>
          <a:noFill/>
          <a:ln>
            <a:noFill/>
          </a:ln>
        </p:spPr>
        <p:txBody>
          <a:bodyPr anchorCtr="0" anchor="t" bIns="0" lIns="0" spcFirstLastPara="1" rIns="0" wrap="square" tIns="67925">
            <a:spAutoFit/>
          </a:bodyPr>
          <a:lstStyle/>
          <a:p>
            <a:pPr indent="0" lvl="0" marL="0" rtl="0" algn="l">
              <a:lnSpc>
                <a:spcPct val="100000"/>
              </a:lnSpc>
              <a:spcBef>
                <a:spcPts val="0"/>
              </a:spcBef>
              <a:spcAft>
                <a:spcPts val="0"/>
              </a:spcAft>
              <a:buNone/>
            </a:pPr>
            <a:r>
              <a:t/>
            </a:r>
            <a:endParaRPr sz="1800">
              <a:latin typeface="Trebuchet MS"/>
              <a:ea typeface="Trebuchet MS"/>
              <a:cs typeface="Trebuchet MS"/>
              <a:sym typeface="Trebuchet MS"/>
            </a:endParaRPr>
          </a:p>
          <a:p>
            <a:pPr indent="-228600" lvl="0" marL="241300" marR="636905" rtl="0" algn="l">
              <a:lnSpc>
                <a:spcPct val="105800"/>
              </a:lnSpc>
              <a:spcBef>
                <a:spcPts val="309"/>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Apabila ada peserta yang mengalami kendala koneksi, error, dll, maka pertandingan akan tetap dilanjutkan</a:t>
            </a:r>
            <a:endParaRPr sz="1800">
              <a:latin typeface="Trebuchet MS"/>
              <a:ea typeface="Trebuchet MS"/>
              <a:cs typeface="Trebuchet MS"/>
              <a:sym typeface="Trebuchet MS"/>
            </a:endParaRPr>
          </a:p>
          <a:p>
            <a:pPr indent="-227965" lvl="0" marL="240665" marR="360045" rtl="0" algn="l">
              <a:lnSpc>
                <a:spcPct val="112999"/>
              </a:lnSpc>
              <a:spcBef>
                <a:spcPts val="685"/>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Peserta wajib mengirimkan hasil akhir pertandingannya berupa screenshoot kepada panitia di grup WA</a:t>
            </a:r>
            <a:endParaRPr sz="1800">
              <a:latin typeface="Trebuchet MS"/>
              <a:ea typeface="Trebuchet MS"/>
              <a:cs typeface="Trebuchet MS"/>
              <a:sym typeface="Trebuchet MS"/>
            </a:endParaRPr>
          </a:p>
          <a:p>
            <a:pPr indent="-227965" lvl="0" marL="240665" marR="5080" rtl="0" algn="l">
              <a:lnSpc>
                <a:spcPct val="112999"/>
              </a:lnSpc>
              <a:spcBef>
                <a:spcPts val="75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Peserta wajib menyimpan hasil screenshoot sebagai bukti banding kepada</a:t>
            </a:r>
            <a:endParaRPr sz="1800">
              <a:latin typeface="Trebuchet MS"/>
              <a:ea typeface="Trebuchet MS"/>
              <a:cs typeface="Trebuchet MS"/>
              <a:sym typeface="Trebuchet MS"/>
            </a:endParaRPr>
          </a:p>
          <a:p>
            <a:pPr indent="0" lvl="0" marL="241300" rtl="0" algn="l">
              <a:lnSpc>
                <a:spcPct val="100000"/>
              </a:lnSpc>
              <a:spcBef>
                <a:spcPts val="280"/>
              </a:spcBef>
              <a:spcAft>
                <a:spcPts val="0"/>
              </a:spcAft>
              <a:buNone/>
            </a:pPr>
            <a:r>
              <a:rPr lang="en-US" sz="1800">
                <a:solidFill>
                  <a:srgbClr val="222222"/>
                </a:solidFill>
                <a:latin typeface="Trebuchet MS"/>
                <a:ea typeface="Trebuchet MS"/>
                <a:cs typeface="Trebuchet MS"/>
                <a:sym typeface="Trebuchet MS"/>
              </a:rPr>
              <a:t>Panitia apabila ada perbedaan placement atau kill poin</a:t>
            </a:r>
            <a:endParaRPr sz="1800">
              <a:latin typeface="Trebuchet MS"/>
              <a:ea typeface="Trebuchet MS"/>
              <a:cs typeface="Trebuchet MS"/>
              <a:sym typeface="Trebuchet MS"/>
            </a:endParaRPr>
          </a:p>
          <a:p>
            <a:pPr indent="-228600" lvl="0" marL="241300" marR="12700" rtl="0" algn="l">
              <a:lnSpc>
                <a:spcPct val="110900"/>
              </a:lnSpc>
              <a:spcBef>
                <a:spcPts val="77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Semua peserta diharapkan untuk bermain dengan sebaik mungkin setiap saat dalam setiap pertandingan.</a:t>
            </a:r>
            <a:endParaRPr sz="1800">
              <a:latin typeface="Trebuchet MS"/>
              <a:ea typeface="Trebuchet MS"/>
              <a:cs typeface="Trebuchet MS"/>
              <a:sym typeface="Trebuchet MS"/>
            </a:endParaRPr>
          </a:p>
          <a:p>
            <a:pPr indent="-228600" lvl="0" marL="241300" marR="174625" rtl="0" algn="l">
              <a:lnSpc>
                <a:spcPct val="110900"/>
              </a:lnSpc>
              <a:spcBef>
                <a:spcPts val="725"/>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Pelanggar yang melanggar aturan ini akan dikenakan sanksi atas kebijakan Panitia.</a:t>
            </a:r>
            <a:endParaRPr sz="1800">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3cfd5c60151_1_0"/>
          <p:cNvSpPr txBox="1"/>
          <p:nvPr>
            <p:ph type="title"/>
          </p:nvPr>
        </p:nvSpPr>
        <p:spPr>
          <a:xfrm>
            <a:off x="3160141" y="1162558"/>
            <a:ext cx="6141600" cy="5541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US"/>
              <a:t>Sistem Pertandingan </a:t>
            </a:r>
            <a:endParaRPr/>
          </a:p>
        </p:txBody>
      </p:sp>
      <p:sp>
        <p:nvSpPr>
          <p:cNvPr id="94" name="Google Shape;94;g3cfd5c60151_1_0"/>
          <p:cNvSpPr txBox="1"/>
          <p:nvPr>
            <p:ph idx="1" type="body"/>
          </p:nvPr>
        </p:nvSpPr>
        <p:spPr>
          <a:xfrm>
            <a:off x="1136146" y="1875173"/>
            <a:ext cx="9702900" cy="19395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US"/>
              <a:t>GLOBAL BEN &amp; PICK</a:t>
            </a:r>
            <a:endParaRPr/>
          </a:p>
          <a:p>
            <a:pPr indent="-317500" lvl="0" marL="457200" rtl="0" algn="l">
              <a:spcBef>
                <a:spcPts val="0"/>
              </a:spcBef>
              <a:spcAft>
                <a:spcPts val="0"/>
              </a:spcAft>
              <a:buClr>
                <a:schemeClr val="dk1"/>
              </a:buClr>
              <a:buSzPts val="1400"/>
              <a:buChar char="●"/>
            </a:pPr>
            <a:r>
              <a:rPr lang="en-US"/>
              <a:t>Hero yang digunakan pada game sebelumnya tidak dapat digunakan kembali di game berikutnya (1 hero 1 tim dalam 1 pertandingan)</a:t>
            </a:r>
            <a:endParaRPr/>
          </a:p>
          <a:p>
            <a:pPr indent="-317500" lvl="0" marL="457200" rtl="0" algn="l">
              <a:spcBef>
                <a:spcPts val="0"/>
              </a:spcBef>
              <a:spcAft>
                <a:spcPts val="0"/>
              </a:spcAft>
              <a:buClr>
                <a:schemeClr val="dk1"/>
              </a:buClr>
              <a:buSzPts val="1400"/>
              <a:buChar char="●"/>
            </a:pPr>
            <a:r>
              <a:rPr lang="en-US"/>
              <a:t>Batas hero ini berlaku untuk seluruh tim, bukan individu. Contoh dalam game pertama Tim A menggunakan hero Yao, Yixing, Yaria, Liu Bei, dan Luban No.7. Maka di game berikutnya tim A tidak dapat memilih hero itu lagi</a:t>
            </a:r>
            <a:endParaRPr/>
          </a:p>
          <a:p>
            <a:pPr indent="0" lvl="0" marL="0" rtl="0" algn="l">
              <a:spcBef>
                <a:spcPts val="0"/>
              </a:spcBef>
              <a:spcAft>
                <a:spcPts val="0"/>
              </a:spcAft>
              <a:buNone/>
            </a:pPr>
            <a:r>
              <a:t/>
            </a:r>
            <a:endParaRPr/>
          </a:p>
        </p:txBody>
      </p:sp>
      <p:pic>
        <p:nvPicPr>
          <p:cNvPr id="95" name="Google Shape;95;g3cfd5c60151_1_0" title="WhatsApp Image 2026-03-13 at 21.08.23.jpeg"/>
          <p:cNvPicPr preferRelativeResize="0"/>
          <p:nvPr/>
        </p:nvPicPr>
        <p:blipFill rotWithShape="1">
          <a:blip r:embed="rId3">
            <a:alphaModFix/>
          </a:blip>
          <a:srcRect b="55177" l="0" r="0" t="0"/>
          <a:stretch/>
        </p:blipFill>
        <p:spPr>
          <a:xfrm>
            <a:off x="2792326" y="3578900"/>
            <a:ext cx="5633474" cy="1490725"/>
          </a:xfrm>
          <a:prstGeom prst="rect">
            <a:avLst/>
          </a:prstGeom>
          <a:noFill/>
          <a:ln>
            <a:noFill/>
          </a:ln>
        </p:spPr>
      </p:pic>
      <p:sp>
        <p:nvSpPr>
          <p:cNvPr id="96" name="Google Shape;96;g3cfd5c60151_1_0"/>
          <p:cNvSpPr txBox="1"/>
          <p:nvPr>
            <p:ph idx="1" type="body"/>
          </p:nvPr>
        </p:nvSpPr>
        <p:spPr>
          <a:xfrm flipH="1">
            <a:off x="1288550" y="5857931"/>
            <a:ext cx="97029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US"/>
              <a:t> Tim B masih bisa menggunakan hero yang sudh di gunakan Tim 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0" name="Shape 100"/>
        <p:cNvGrpSpPr/>
        <p:nvPr/>
      </p:nvGrpSpPr>
      <p:grpSpPr>
        <a:xfrm>
          <a:off x="0" y="0"/>
          <a:ext cx="0" cy="0"/>
          <a:chOff x="0" y="0"/>
          <a:chExt cx="0" cy="0"/>
        </a:xfrm>
      </p:grpSpPr>
      <p:sp>
        <p:nvSpPr>
          <p:cNvPr id="101" name="Google Shape;101;p8"/>
          <p:cNvSpPr/>
          <p:nvPr/>
        </p:nvSpPr>
        <p:spPr>
          <a:xfrm>
            <a:off x="2215895" y="947927"/>
            <a:ext cx="7760334" cy="858519"/>
          </a:xfrm>
          <a:custGeom>
            <a:rect b="b" l="l" r="r" t="t"/>
            <a:pathLst>
              <a:path extrusionOk="0" h="858519" w="7760334">
                <a:moveTo>
                  <a:pt x="7745044" y="858481"/>
                </a:moveTo>
                <a:lnTo>
                  <a:pt x="15240" y="858481"/>
                </a:lnTo>
                <a:lnTo>
                  <a:pt x="12268" y="858189"/>
                </a:lnTo>
                <a:lnTo>
                  <a:pt x="0" y="843241"/>
                </a:lnTo>
                <a:lnTo>
                  <a:pt x="0" y="15240"/>
                </a:lnTo>
                <a:lnTo>
                  <a:pt x="15240" y="0"/>
                </a:lnTo>
                <a:lnTo>
                  <a:pt x="7745044" y="0"/>
                </a:lnTo>
                <a:lnTo>
                  <a:pt x="7760271" y="15240"/>
                </a:lnTo>
                <a:lnTo>
                  <a:pt x="30480" y="15240"/>
                </a:lnTo>
                <a:lnTo>
                  <a:pt x="15240" y="30480"/>
                </a:lnTo>
                <a:lnTo>
                  <a:pt x="30480" y="30480"/>
                </a:lnTo>
                <a:lnTo>
                  <a:pt x="30480" y="828001"/>
                </a:lnTo>
                <a:lnTo>
                  <a:pt x="15240" y="828001"/>
                </a:lnTo>
                <a:lnTo>
                  <a:pt x="30480" y="843241"/>
                </a:lnTo>
                <a:lnTo>
                  <a:pt x="7760271" y="843241"/>
                </a:lnTo>
                <a:lnTo>
                  <a:pt x="7759979" y="846213"/>
                </a:lnTo>
                <a:lnTo>
                  <a:pt x="7748015" y="858189"/>
                </a:lnTo>
                <a:lnTo>
                  <a:pt x="7745044" y="858481"/>
                </a:lnTo>
                <a:close/>
              </a:path>
              <a:path extrusionOk="0" h="858519" w="7760334">
                <a:moveTo>
                  <a:pt x="30480" y="30480"/>
                </a:moveTo>
                <a:lnTo>
                  <a:pt x="15240" y="30480"/>
                </a:lnTo>
                <a:lnTo>
                  <a:pt x="30480" y="15240"/>
                </a:lnTo>
                <a:lnTo>
                  <a:pt x="30480" y="30480"/>
                </a:lnTo>
                <a:close/>
              </a:path>
              <a:path extrusionOk="0" h="858519" w="7760334">
                <a:moveTo>
                  <a:pt x="7729804" y="30480"/>
                </a:moveTo>
                <a:lnTo>
                  <a:pt x="30480" y="30480"/>
                </a:lnTo>
                <a:lnTo>
                  <a:pt x="30480" y="15240"/>
                </a:lnTo>
                <a:lnTo>
                  <a:pt x="7729804" y="15240"/>
                </a:lnTo>
                <a:lnTo>
                  <a:pt x="7729804" y="30480"/>
                </a:lnTo>
                <a:close/>
              </a:path>
              <a:path extrusionOk="0" h="858519" w="7760334">
                <a:moveTo>
                  <a:pt x="7729804" y="843241"/>
                </a:moveTo>
                <a:lnTo>
                  <a:pt x="7729804" y="15240"/>
                </a:lnTo>
                <a:lnTo>
                  <a:pt x="7745044" y="30480"/>
                </a:lnTo>
                <a:lnTo>
                  <a:pt x="7760271" y="30480"/>
                </a:lnTo>
                <a:lnTo>
                  <a:pt x="7760271" y="828001"/>
                </a:lnTo>
                <a:lnTo>
                  <a:pt x="7745044" y="828001"/>
                </a:lnTo>
                <a:lnTo>
                  <a:pt x="7729804" y="843241"/>
                </a:lnTo>
                <a:close/>
              </a:path>
              <a:path extrusionOk="0" h="858519" w="7760334">
                <a:moveTo>
                  <a:pt x="7760271" y="30480"/>
                </a:moveTo>
                <a:lnTo>
                  <a:pt x="7745044" y="30480"/>
                </a:lnTo>
                <a:lnTo>
                  <a:pt x="7729804" y="15240"/>
                </a:lnTo>
                <a:lnTo>
                  <a:pt x="7760271" y="15240"/>
                </a:lnTo>
                <a:lnTo>
                  <a:pt x="7760271" y="30480"/>
                </a:lnTo>
                <a:close/>
              </a:path>
              <a:path extrusionOk="0" h="858519" w="7760334">
                <a:moveTo>
                  <a:pt x="30480" y="843241"/>
                </a:moveTo>
                <a:lnTo>
                  <a:pt x="15240" y="828001"/>
                </a:lnTo>
                <a:lnTo>
                  <a:pt x="30480" y="828001"/>
                </a:lnTo>
                <a:lnTo>
                  <a:pt x="30480" y="843241"/>
                </a:lnTo>
                <a:close/>
              </a:path>
              <a:path extrusionOk="0" h="858519" w="7760334">
                <a:moveTo>
                  <a:pt x="7729804" y="843241"/>
                </a:moveTo>
                <a:lnTo>
                  <a:pt x="30480" y="843241"/>
                </a:lnTo>
                <a:lnTo>
                  <a:pt x="30480" y="828001"/>
                </a:lnTo>
                <a:lnTo>
                  <a:pt x="7729804" y="828001"/>
                </a:lnTo>
                <a:lnTo>
                  <a:pt x="7729804" y="843241"/>
                </a:lnTo>
                <a:close/>
              </a:path>
              <a:path extrusionOk="0" h="858519" w="7760334">
                <a:moveTo>
                  <a:pt x="7760271" y="843241"/>
                </a:moveTo>
                <a:lnTo>
                  <a:pt x="7729804" y="843241"/>
                </a:lnTo>
                <a:lnTo>
                  <a:pt x="7745044" y="828001"/>
                </a:lnTo>
                <a:lnTo>
                  <a:pt x="7760271" y="828001"/>
                </a:lnTo>
                <a:lnTo>
                  <a:pt x="7760271" y="843241"/>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2" name="Google Shape;102;p8"/>
          <p:cNvSpPr txBox="1"/>
          <p:nvPr>
            <p:ph type="title"/>
          </p:nvPr>
        </p:nvSpPr>
        <p:spPr>
          <a:xfrm>
            <a:off x="3825621" y="1114932"/>
            <a:ext cx="4999355"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POIN PELANGGARAN</a:t>
            </a:r>
            <a:endParaRPr sz="4000"/>
          </a:p>
        </p:txBody>
      </p:sp>
      <p:sp>
        <p:nvSpPr>
          <p:cNvPr id="103" name="Google Shape;103;p8"/>
          <p:cNvSpPr txBox="1"/>
          <p:nvPr/>
        </p:nvSpPr>
        <p:spPr>
          <a:xfrm>
            <a:off x="2215895" y="1823592"/>
            <a:ext cx="7760400" cy="4322700"/>
          </a:xfrm>
          <a:prstGeom prst="rect">
            <a:avLst/>
          </a:prstGeom>
          <a:noFill/>
          <a:ln>
            <a:noFill/>
          </a:ln>
        </p:spPr>
        <p:txBody>
          <a:bodyPr anchorCtr="0" anchor="t" bIns="0" lIns="0" spcFirstLastPara="1" rIns="0" wrap="square" tIns="12700">
            <a:spAutoFit/>
          </a:bodyPr>
          <a:lstStyle/>
          <a:p>
            <a:pPr indent="-450850" lvl="0" marL="457200" rtl="0" algn="l">
              <a:spcBef>
                <a:spcPts val="0"/>
              </a:spcBef>
              <a:spcAft>
                <a:spcPts val="0"/>
              </a:spcAft>
              <a:buClr>
                <a:srgbClr val="9BACB5"/>
              </a:buClr>
              <a:buSzPts val="3500"/>
              <a:buFont typeface="Trebuchet MS"/>
              <a:buChar char="•"/>
            </a:pPr>
            <a:r>
              <a:rPr lang="en-US" sz="3500">
                <a:solidFill>
                  <a:schemeClr val="dk1"/>
                </a:solidFill>
                <a:latin typeface="Trebuchet MS"/>
                <a:ea typeface="Trebuchet MS"/>
                <a:cs typeface="Trebuchet MS"/>
                <a:sym typeface="Trebuchet MS"/>
              </a:rPr>
              <a:t>Berkata kasar dan sara :-1 match</a:t>
            </a:r>
            <a:endParaRPr sz="3500">
              <a:solidFill>
                <a:schemeClr val="dk1"/>
              </a:solidFill>
              <a:latin typeface="Trebuchet MS"/>
              <a:ea typeface="Trebuchet MS"/>
              <a:cs typeface="Trebuchet MS"/>
              <a:sym typeface="Trebuchet MS"/>
            </a:endParaRPr>
          </a:p>
          <a:p>
            <a:pPr indent="-450850" lvl="0" marL="457200" rtl="0" algn="l">
              <a:spcBef>
                <a:spcPts val="0"/>
              </a:spcBef>
              <a:spcAft>
                <a:spcPts val="0"/>
              </a:spcAft>
              <a:buClr>
                <a:srgbClr val="9BACB5"/>
              </a:buClr>
              <a:buSzPts val="3500"/>
              <a:buFont typeface="Trebuchet MS"/>
              <a:buChar char="•"/>
            </a:pPr>
            <a:r>
              <a:rPr lang="en-US" sz="3500">
                <a:solidFill>
                  <a:schemeClr val="dk1"/>
                </a:solidFill>
                <a:latin typeface="Trebuchet MS"/>
                <a:ea typeface="Trebuchet MS"/>
                <a:cs typeface="Trebuchet MS"/>
                <a:sym typeface="Trebuchet MS"/>
              </a:rPr>
              <a:t>Teaming : -1 match</a:t>
            </a:r>
            <a:endParaRPr sz="3500">
              <a:solidFill>
                <a:schemeClr val="dk1"/>
              </a:solidFill>
              <a:latin typeface="Trebuchet MS"/>
              <a:ea typeface="Trebuchet MS"/>
              <a:cs typeface="Trebuchet MS"/>
              <a:sym typeface="Trebuchet MS"/>
            </a:endParaRPr>
          </a:p>
          <a:p>
            <a:pPr indent="-450850" lvl="0" marL="457200" rtl="0" algn="l">
              <a:spcBef>
                <a:spcPts val="0"/>
              </a:spcBef>
              <a:spcAft>
                <a:spcPts val="0"/>
              </a:spcAft>
              <a:buClr>
                <a:srgbClr val="9BACB5"/>
              </a:buClr>
              <a:buSzPts val="3500"/>
              <a:buFont typeface="Trebuchet MS"/>
              <a:buChar char="•"/>
            </a:pPr>
            <a:r>
              <a:rPr lang="en-US" sz="3500">
                <a:solidFill>
                  <a:schemeClr val="dk1"/>
                </a:solidFill>
                <a:latin typeface="Trebuchet MS"/>
                <a:ea typeface="Trebuchet MS"/>
                <a:cs typeface="Trebuchet MS"/>
                <a:sym typeface="Trebuchet MS"/>
              </a:rPr>
              <a:t>Cheat : wo</a:t>
            </a:r>
            <a:endParaRPr sz="3500">
              <a:solidFill>
                <a:schemeClr val="dk1"/>
              </a:solidFill>
              <a:latin typeface="Trebuchet MS"/>
              <a:ea typeface="Trebuchet MS"/>
              <a:cs typeface="Trebuchet MS"/>
              <a:sym typeface="Trebuchet MS"/>
            </a:endParaRPr>
          </a:p>
          <a:p>
            <a:pPr indent="-450850" lvl="0" marL="457200" rtl="0" algn="l">
              <a:spcBef>
                <a:spcPts val="0"/>
              </a:spcBef>
              <a:spcAft>
                <a:spcPts val="0"/>
              </a:spcAft>
              <a:buClr>
                <a:srgbClr val="9BACB5"/>
              </a:buClr>
              <a:buSzPts val="3500"/>
              <a:buFont typeface="Trebuchet MS"/>
              <a:buChar char="•"/>
            </a:pPr>
            <a:r>
              <a:rPr lang="en-US" sz="3500">
                <a:solidFill>
                  <a:schemeClr val="dk1"/>
                </a:solidFill>
                <a:latin typeface="Trebuchet MS"/>
                <a:ea typeface="Trebuchet MS"/>
                <a:cs typeface="Trebuchet MS"/>
                <a:sym typeface="Trebuchet MS"/>
              </a:rPr>
              <a:t>INDIKASI ANARKIS (MEMUKUL MEJA, DLL) : -1 match</a:t>
            </a:r>
            <a:endParaRPr sz="3500">
              <a:solidFill>
                <a:schemeClr val="dk1"/>
              </a:solidFill>
              <a:latin typeface="Trebuchet MS"/>
              <a:ea typeface="Trebuchet MS"/>
              <a:cs typeface="Trebuchet MS"/>
              <a:sym typeface="Trebuchet MS"/>
            </a:endParaRPr>
          </a:p>
          <a:p>
            <a:pPr indent="-450850" lvl="0" marL="457200" rtl="0" algn="l">
              <a:spcBef>
                <a:spcPts val="0"/>
              </a:spcBef>
              <a:spcAft>
                <a:spcPts val="0"/>
              </a:spcAft>
              <a:buClr>
                <a:schemeClr val="dk1"/>
              </a:buClr>
              <a:buSzPts val="3500"/>
              <a:buFont typeface="Trebuchet MS"/>
              <a:buChar char="•"/>
            </a:pPr>
            <a:r>
              <a:rPr lang="en-US" sz="3500">
                <a:solidFill>
                  <a:schemeClr val="dk1"/>
                </a:solidFill>
                <a:latin typeface="Trebuchet MS"/>
                <a:ea typeface="Trebuchet MS"/>
                <a:cs typeface="Trebuchet MS"/>
                <a:sym typeface="Trebuchet MS"/>
              </a:rPr>
              <a:t>Ngepick hero yang sama sengaja maupun tidak : - 1 match</a:t>
            </a:r>
            <a:endParaRPr sz="3500">
              <a:solidFill>
                <a:schemeClr val="dk1"/>
              </a:solidFill>
              <a:latin typeface="Trebuchet MS"/>
              <a:ea typeface="Trebuchet MS"/>
              <a:cs typeface="Trebuchet MS"/>
              <a:sym typeface="Trebuchet MS"/>
            </a:endParaRPr>
          </a:p>
          <a:p>
            <a:pPr indent="-450850" lvl="0" marL="457200" rtl="0" algn="l">
              <a:spcBef>
                <a:spcPts val="0"/>
              </a:spcBef>
              <a:spcAft>
                <a:spcPts val="0"/>
              </a:spcAft>
              <a:buClr>
                <a:schemeClr val="dk1"/>
              </a:buClr>
              <a:buSzPts val="3500"/>
              <a:buFont typeface="Trebuchet MS"/>
              <a:buChar char="•"/>
            </a:pPr>
            <a:r>
              <a:rPr lang="en-US" sz="3500">
                <a:solidFill>
                  <a:schemeClr val="dk1"/>
                </a:solidFill>
                <a:latin typeface="Trebuchet MS"/>
                <a:ea typeface="Trebuchet MS"/>
                <a:cs typeface="Trebuchet MS"/>
                <a:sym typeface="Trebuchet MS"/>
              </a:rPr>
              <a:t>Joki : wo</a:t>
            </a:r>
            <a:endParaRPr sz="4000">
              <a:solidFill>
                <a:schemeClr val="dk1"/>
              </a:solidFill>
              <a:latin typeface="Trebuchet MS"/>
              <a:ea typeface="Trebuchet MS"/>
              <a:cs typeface="Trebuchet MS"/>
              <a:sym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 name="Shape 107"/>
        <p:cNvGrpSpPr/>
        <p:nvPr/>
      </p:nvGrpSpPr>
      <p:grpSpPr>
        <a:xfrm>
          <a:off x="0" y="0"/>
          <a:ext cx="0" cy="0"/>
          <a:chOff x="0" y="0"/>
          <a:chExt cx="0" cy="0"/>
        </a:xfrm>
      </p:grpSpPr>
      <p:sp>
        <p:nvSpPr>
          <p:cNvPr id="108" name="Google Shape;108;p9"/>
          <p:cNvSpPr/>
          <p:nvPr/>
        </p:nvSpPr>
        <p:spPr>
          <a:xfrm>
            <a:off x="573023" y="618744"/>
            <a:ext cx="10546080" cy="911225"/>
          </a:xfrm>
          <a:custGeom>
            <a:rect b="b" l="l" r="r" t="t"/>
            <a:pathLst>
              <a:path extrusionOk="0" h="911225" w="10546080">
                <a:moveTo>
                  <a:pt x="10530840" y="911224"/>
                </a:moveTo>
                <a:lnTo>
                  <a:pt x="15240" y="911224"/>
                </a:lnTo>
                <a:lnTo>
                  <a:pt x="12268" y="910932"/>
                </a:lnTo>
                <a:lnTo>
                  <a:pt x="0" y="895984"/>
                </a:lnTo>
                <a:lnTo>
                  <a:pt x="0" y="15239"/>
                </a:lnTo>
                <a:lnTo>
                  <a:pt x="15240" y="0"/>
                </a:lnTo>
                <a:lnTo>
                  <a:pt x="10530840" y="0"/>
                </a:lnTo>
                <a:lnTo>
                  <a:pt x="10546080" y="15239"/>
                </a:lnTo>
                <a:lnTo>
                  <a:pt x="30480" y="15239"/>
                </a:lnTo>
                <a:lnTo>
                  <a:pt x="15240" y="30479"/>
                </a:lnTo>
                <a:lnTo>
                  <a:pt x="30480" y="30479"/>
                </a:lnTo>
                <a:lnTo>
                  <a:pt x="30480" y="880744"/>
                </a:lnTo>
                <a:lnTo>
                  <a:pt x="15240" y="880744"/>
                </a:lnTo>
                <a:lnTo>
                  <a:pt x="30480" y="895984"/>
                </a:lnTo>
                <a:lnTo>
                  <a:pt x="10546080" y="895984"/>
                </a:lnTo>
                <a:lnTo>
                  <a:pt x="10545787" y="898956"/>
                </a:lnTo>
                <a:lnTo>
                  <a:pt x="10533811" y="910932"/>
                </a:lnTo>
                <a:lnTo>
                  <a:pt x="10530840" y="911224"/>
                </a:lnTo>
                <a:close/>
              </a:path>
              <a:path extrusionOk="0" h="911225" w="10546080">
                <a:moveTo>
                  <a:pt x="30480" y="30479"/>
                </a:moveTo>
                <a:lnTo>
                  <a:pt x="15240" y="30479"/>
                </a:lnTo>
                <a:lnTo>
                  <a:pt x="30480" y="15239"/>
                </a:lnTo>
                <a:lnTo>
                  <a:pt x="30480" y="30479"/>
                </a:lnTo>
                <a:close/>
              </a:path>
              <a:path extrusionOk="0" h="911225" w="10546080">
                <a:moveTo>
                  <a:pt x="10515600" y="30479"/>
                </a:moveTo>
                <a:lnTo>
                  <a:pt x="30480" y="30479"/>
                </a:lnTo>
                <a:lnTo>
                  <a:pt x="30480" y="15239"/>
                </a:lnTo>
                <a:lnTo>
                  <a:pt x="10515600" y="15239"/>
                </a:lnTo>
                <a:lnTo>
                  <a:pt x="10515600" y="30479"/>
                </a:lnTo>
                <a:close/>
              </a:path>
              <a:path extrusionOk="0" h="911225" w="10546080">
                <a:moveTo>
                  <a:pt x="10515600" y="895984"/>
                </a:moveTo>
                <a:lnTo>
                  <a:pt x="10515600" y="15239"/>
                </a:lnTo>
                <a:lnTo>
                  <a:pt x="10530840" y="30479"/>
                </a:lnTo>
                <a:lnTo>
                  <a:pt x="10546080" y="30479"/>
                </a:lnTo>
                <a:lnTo>
                  <a:pt x="10546080" y="880744"/>
                </a:lnTo>
                <a:lnTo>
                  <a:pt x="10530840" y="880744"/>
                </a:lnTo>
                <a:lnTo>
                  <a:pt x="10515600" y="895984"/>
                </a:lnTo>
                <a:close/>
              </a:path>
              <a:path extrusionOk="0" h="911225" w="10546080">
                <a:moveTo>
                  <a:pt x="10546080" y="30479"/>
                </a:moveTo>
                <a:lnTo>
                  <a:pt x="10530840" y="30479"/>
                </a:lnTo>
                <a:lnTo>
                  <a:pt x="10515600" y="15239"/>
                </a:lnTo>
                <a:lnTo>
                  <a:pt x="10546080" y="15239"/>
                </a:lnTo>
                <a:lnTo>
                  <a:pt x="10546080" y="30479"/>
                </a:lnTo>
                <a:close/>
              </a:path>
              <a:path extrusionOk="0" h="911225" w="10546080">
                <a:moveTo>
                  <a:pt x="30480" y="895984"/>
                </a:moveTo>
                <a:lnTo>
                  <a:pt x="15240" y="880744"/>
                </a:lnTo>
                <a:lnTo>
                  <a:pt x="30480" y="880744"/>
                </a:lnTo>
                <a:lnTo>
                  <a:pt x="30480" y="895984"/>
                </a:lnTo>
                <a:close/>
              </a:path>
              <a:path extrusionOk="0" h="911225" w="10546080">
                <a:moveTo>
                  <a:pt x="10515600" y="895984"/>
                </a:moveTo>
                <a:lnTo>
                  <a:pt x="30480" y="895984"/>
                </a:lnTo>
                <a:lnTo>
                  <a:pt x="30480" y="880744"/>
                </a:lnTo>
                <a:lnTo>
                  <a:pt x="10515600" y="880744"/>
                </a:lnTo>
                <a:lnTo>
                  <a:pt x="10515600" y="895984"/>
                </a:lnTo>
                <a:close/>
              </a:path>
              <a:path extrusionOk="0" h="911225" w="10546080">
                <a:moveTo>
                  <a:pt x="10546080" y="895984"/>
                </a:moveTo>
                <a:lnTo>
                  <a:pt x="10515600" y="895984"/>
                </a:lnTo>
                <a:lnTo>
                  <a:pt x="10530840" y="880744"/>
                </a:lnTo>
                <a:lnTo>
                  <a:pt x="10546080" y="880744"/>
                </a:lnTo>
                <a:lnTo>
                  <a:pt x="10546080" y="895984"/>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9" name="Google Shape;109;p9"/>
          <p:cNvSpPr txBox="1"/>
          <p:nvPr>
            <p:ph type="title"/>
          </p:nvPr>
        </p:nvSpPr>
        <p:spPr>
          <a:xfrm>
            <a:off x="4469700" y="848614"/>
            <a:ext cx="2752725"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t>FORMAT MATCH</a:t>
            </a:r>
            <a:endParaRPr sz="2800"/>
          </a:p>
        </p:txBody>
      </p:sp>
      <p:sp>
        <p:nvSpPr>
          <p:cNvPr id="110" name="Google Shape;110;p9"/>
          <p:cNvSpPr txBox="1"/>
          <p:nvPr/>
        </p:nvSpPr>
        <p:spPr>
          <a:xfrm>
            <a:off x="572960" y="1529975"/>
            <a:ext cx="10546200" cy="2229900"/>
          </a:xfrm>
          <a:prstGeom prst="rect">
            <a:avLst/>
          </a:prstGeom>
          <a:noFill/>
          <a:ln>
            <a:noFill/>
          </a:ln>
        </p:spPr>
        <p:txBody>
          <a:bodyPr anchorCtr="0" anchor="t" bIns="0" lIns="0" spcFirstLastPara="1" rIns="0" wrap="square" tIns="165725">
            <a:spAutoFit/>
          </a:bodyPr>
          <a:lstStyle/>
          <a:p>
            <a:pPr indent="-342900" lvl="0" marL="342900" rtl="0" algn="l">
              <a:lnSpc>
                <a:spcPct val="150000"/>
              </a:lnSpc>
              <a:spcBef>
                <a:spcPts val="0"/>
              </a:spcBef>
              <a:spcAft>
                <a:spcPts val="0"/>
              </a:spcAft>
              <a:buSzPts val="2000"/>
              <a:buFont typeface="Calibri"/>
              <a:buAutoNum type="arabicPeriod"/>
            </a:pPr>
            <a:r>
              <a:rPr lang="en-US" sz="2000">
                <a:latin typeface="Times New Roman"/>
                <a:ea typeface="Times New Roman"/>
                <a:cs typeface="Times New Roman"/>
                <a:sym typeface="Times New Roman"/>
              </a:rPr>
              <a:t>Pertandingan full Offline</a:t>
            </a:r>
            <a:endParaRPr/>
          </a:p>
          <a:p>
            <a:pPr indent="-342900" lvl="0" marL="342900" rtl="0" algn="l">
              <a:lnSpc>
                <a:spcPct val="150000"/>
              </a:lnSpc>
              <a:spcBef>
                <a:spcPts val="0"/>
              </a:spcBef>
              <a:spcAft>
                <a:spcPts val="0"/>
              </a:spcAft>
              <a:buSzPts val="2000"/>
              <a:buFont typeface="Calibri"/>
              <a:buAutoNum type="arabicPeriod"/>
            </a:pPr>
            <a:r>
              <a:rPr lang="en-US" sz="2000">
                <a:latin typeface="Times New Roman"/>
                <a:ea typeface="Times New Roman"/>
                <a:cs typeface="Times New Roman"/>
                <a:sym typeface="Times New Roman"/>
              </a:rPr>
              <a:t>Kualifikasi sampai Final 5 vs 5 Global Pick mode BO 3 </a:t>
            </a:r>
            <a:endParaRPr/>
          </a:p>
          <a:p>
            <a:pPr indent="-342900" lvl="0" marL="342900" rtl="0" algn="l">
              <a:lnSpc>
                <a:spcPct val="150000"/>
              </a:lnSpc>
              <a:spcBef>
                <a:spcPts val="0"/>
              </a:spcBef>
              <a:spcAft>
                <a:spcPts val="0"/>
              </a:spcAft>
              <a:buSzPts val="2000"/>
              <a:buFont typeface="Calibri"/>
              <a:buAutoNum type="arabicPeriod"/>
            </a:pPr>
            <a:r>
              <a:rPr lang="en-US" sz="2000">
                <a:latin typeface="Times New Roman"/>
                <a:ea typeface="Times New Roman"/>
                <a:cs typeface="Times New Roman"/>
                <a:sym typeface="Times New Roman"/>
              </a:rPr>
              <a:t>Sistem Dobble Elimination</a:t>
            </a:r>
            <a:endParaRPr/>
          </a:p>
          <a:p>
            <a:pPr indent="-342900" lvl="0" marL="342900" rtl="0" algn="l">
              <a:lnSpc>
                <a:spcPct val="150000"/>
              </a:lnSpc>
              <a:spcBef>
                <a:spcPts val="0"/>
              </a:spcBef>
              <a:spcAft>
                <a:spcPts val="0"/>
              </a:spcAft>
              <a:buSzPts val="2000"/>
              <a:buFont typeface="Calibri"/>
              <a:buAutoNum type="arabicPeriod"/>
            </a:pPr>
            <a:r>
              <a:rPr lang="en-US" sz="2000">
                <a:latin typeface="Times New Roman"/>
                <a:ea typeface="Times New Roman"/>
                <a:cs typeface="Times New Roman"/>
                <a:sym typeface="Times New Roman"/>
              </a:rPr>
              <a:t>kualifikasi sampai </a:t>
            </a:r>
            <a:r>
              <a:rPr lang="en-US" sz="2000">
                <a:latin typeface="Times New Roman"/>
                <a:ea typeface="Times New Roman"/>
                <a:cs typeface="Times New Roman"/>
                <a:sym typeface="Times New Roman"/>
              </a:rPr>
              <a:t>Final Berlaku Global Pick</a:t>
            </a:r>
            <a:endParaRPr/>
          </a:p>
          <a:p>
            <a:pPr indent="0" lvl="0" marL="457200" rtl="0" algn="l">
              <a:lnSpc>
                <a:spcPct val="150000"/>
              </a:lnSpc>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4" name="Shape 114"/>
        <p:cNvGrpSpPr/>
        <p:nvPr/>
      </p:nvGrpSpPr>
      <p:grpSpPr>
        <a:xfrm>
          <a:off x="0" y="0"/>
          <a:ext cx="0" cy="0"/>
          <a:chOff x="0" y="0"/>
          <a:chExt cx="0" cy="0"/>
        </a:xfrm>
      </p:grpSpPr>
      <p:sp>
        <p:nvSpPr>
          <p:cNvPr id="115" name="Google Shape;115;p10"/>
          <p:cNvSpPr/>
          <p:nvPr/>
        </p:nvSpPr>
        <p:spPr>
          <a:xfrm>
            <a:off x="2215895" y="947927"/>
            <a:ext cx="7760334" cy="836294"/>
          </a:xfrm>
          <a:custGeom>
            <a:rect b="b" l="l" r="r" t="t"/>
            <a:pathLst>
              <a:path extrusionOk="0" h="836294" w="7760334">
                <a:moveTo>
                  <a:pt x="7745044" y="835977"/>
                </a:moveTo>
                <a:lnTo>
                  <a:pt x="15240" y="835977"/>
                </a:lnTo>
                <a:lnTo>
                  <a:pt x="12268" y="835685"/>
                </a:lnTo>
                <a:lnTo>
                  <a:pt x="0" y="820737"/>
                </a:lnTo>
                <a:lnTo>
                  <a:pt x="0" y="15240"/>
                </a:lnTo>
                <a:lnTo>
                  <a:pt x="15240" y="0"/>
                </a:lnTo>
                <a:lnTo>
                  <a:pt x="7745044" y="0"/>
                </a:lnTo>
                <a:lnTo>
                  <a:pt x="7760271" y="15240"/>
                </a:lnTo>
                <a:lnTo>
                  <a:pt x="30480" y="15240"/>
                </a:lnTo>
                <a:lnTo>
                  <a:pt x="15240" y="30480"/>
                </a:lnTo>
                <a:lnTo>
                  <a:pt x="30480" y="30480"/>
                </a:lnTo>
                <a:lnTo>
                  <a:pt x="30480" y="805497"/>
                </a:lnTo>
                <a:lnTo>
                  <a:pt x="15240" y="805497"/>
                </a:lnTo>
                <a:lnTo>
                  <a:pt x="30480" y="820737"/>
                </a:lnTo>
                <a:lnTo>
                  <a:pt x="7760271" y="820737"/>
                </a:lnTo>
                <a:lnTo>
                  <a:pt x="7759979" y="823709"/>
                </a:lnTo>
                <a:lnTo>
                  <a:pt x="7748015" y="835685"/>
                </a:lnTo>
                <a:lnTo>
                  <a:pt x="7745044" y="835977"/>
                </a:lnTo>
                <a:close/>
              </a:path>
              <a:path extrusionOk="0" h="836294" w="7760334">
                <a:moveTo>
                  <a:pt x="30480" y="30480"/>
                </a:moveTo>
                <a:lnTo>
                  <a:pt x="15240"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71" y="30480"/>
                </a:lnTo>
                <a:lnTo>
                  <a:pt x="7760271" y="805497"/>
                </a:lnTo>
                <a:lnTo>
                  <a:pt x="7745044" y="805497"/>
                </a:lnTo>
                <a:lnTo>
                  <a:pt x="7729804" y="820737"/>
                </a:lnTo>
                <a:close/>
              </a:path>
              <a:path extrusionOk="0" h="836294" w="7760334">
                <a:moveTo>
                  <a:pt x="7760271" y="30480"/>
                </a:moveTo>
                <a:lnTo>
                  <a:pt x="7745044" y="30480"/>
                </a:lnTo>
                <a:lnTo>
                  <a:pt x="7729804" y="15240"/>
                </a:lnTo>
                <a:lnTo>
                  <a:pt x="7760271" y="15240"/>
                </a:lnTo>
                <a:lnTo>
                  <a:pt x="7760271" y="30480"/>
                </a:lnTo>
                <a:close/>
              </a:path>
              <a:path extrusionOk="0" h="836294" w="7760334">
                <a:moveTo>
                  <a:pt x="30480" y="820737"/>
                </a:moveTo>
                <a:lnTo>
                  <a:pt x="15240"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71" y="820737"/>
                </a:moveTo>
                <a:lnTo>
                  <a:pt x="7729804" y="820737"/>
                </a:lnTo>
                <a:lnTo>
                  <a:pt x="7745044" y="805497"/>
                </a:lnTo>
                <a:lnTo>
                  <a:pt x="7760271" y="805497"/>
                </a:lnTo>
                <a:lnTo>
                  <a:pt x="7760271" y="820737"/>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6" name="Google Shape;116;p10"/>
          <p:cNvSpPr txBox="1"/>
          <p:nvPr>
            <p:ph type="title"/>
          </p:nvPr>
        </p:nvSpPr>
        <p:spPr>
          <a:xfrm>
            <a:off x="2540541" y="1082583"/>
            <a:ext cx="6141600" cy="567000"/>
          </a:xfrm>
          <a:prstGeom prst="rect">
            <a:avLst/>
          </a:prstGeom>
          <a:noFill/>
          <a:ln>
            <a:noFill/>
          </a:ln>
        </p:spPr>
        <p:txBody>
          <a:bodyPr anchorCtr="0" anchor="t" bIns="0" lIns="0" spcFirstLastPara="1" rIns="0" wrap="square" tIns="12700">
            <a:spAutoFit/>
          </a:bodyPr>
          <a:lstStyle/>
          <a:p>
            <a:pPr indent="0" lvl="0" marL="902335" rtl="0" algn="ctr">
              <a:lnSpc>
                <a:spcPct val="100000"/>
              </a:lnSpc>
              <a:spcBef>
                <a:spcPts val="0"/>
              </a:spcBef>
              <a:spcAft>
                <a:spcPts val="0"/>
              </a:spcAft>
              <a:buNone/>
            </a:pPr>
            <a:r>
              <a:rPr lang="en-US"/>
              <a:t>Format Match</a:t>
            </a:r>
            <a:endParaRPr/>
          </a:p>
        </p:txBody>
      </p:sp>
      <p:sp>
        <p:nvSpPr>
          <p:cNvPr id="117" name="Google Shape;117;p10"/>
          <p:cNvSpPr txBox="1"/>
          <p:nvPr>
            <p:ph type="title"/>
          </p:nvPr>
        </p:nvSpPr>
        <p:spPr>
          <a:xfrm>
            <a:off x="1581900" y="1784225"/>
            <a:ext cx="9350400" cy="5822400"/>
          </a:xfrm>
          <a:prstGeom prst="rect">
            <a:avLst/>
          </a:prstGeom>
          <a:noFill/>
          <a:ln>
            <a:noFill/>
          </a:ln>
        </p:spPr>
        <p:txBody>
          <a:bodyPr anchorCtr="0" anchor="t" bIns="0" lIns="0" spcFirstLastPara="1" rIns="0" wrap="square" tIns="12700">
            <a:spAutoFit/>
          </a:bodyPr>
          <a:lstStyle/>
          <a:p>
            <a:pPr indent="0" lvl="0" marL="0" rtl="0" algn="l">
              <a:lnSpc>
                <a:spcPct val="150000"/>
              </a:lnSpc>
              <a:spcBef>
                <a:spcPts val="0"/>
              </a:spcBef>
              <a:spcAft>
                <a:spcPts val="0"/>
              </a:spcAft>
              <a:buClr>
                <a:schemeClr val="dk1"/>
              </a:buClr>
              <a:buSzPts val="1100"/>
              <a:buFont typeface="Arial"/>
              <a:buNone/>
            </a:pPr>
            <a:r>
              <a:rPr lang="en-US" sz="2000">
                <a:latin typeface="Times New Roman"/>
                <a:ea typeface="Times New Roman"/>
                <a:cs typeface="Times New Roman"/>
                <a:sym typeface="Times New Roman"/>
              </a:rPr>
              <a:t>Hero Auto Ban    : Tidak ada (yuan ge/yango boleh digunakan)</a:t>
            </a:r>
            <a:endParaRPr sz="2000">
              <a:latin typeface="Times New Roman"/>
              <a:ea typeface="Times New Roman"/>
              <a:cs typeface="Times New Roman"/>
              <a:sym typeface="Times New Roman"/>
            </a:endParaRPr>
          </a:p>
          <a:p>
            <a:pPr indent="0" lvl="0" marL="0" rtl="0" algn="l">
              <a:lnSpc>
                <a:spcPct val="150000"/>
              </a:lnSpc>
              <a:spcBef>
                <a:spcPts val="0"/>
              </a:spcBef>
              <a:spcAft>
                <a:spcPts val="0"/>
              </a:spcAft>
              <a:buClr>
                <a:schemeClr val="dk1"/>
              </a:buClr>
              <a:buSzPts val="1100"/>
              <a:buFont typeface="Arial"/>
              <a:buNone/>
            </a:pPr>
            <a:r>
              <a:rPr lang="en-US" sz="2000">
                <a:latin typeface="Times New Roman"/>
                <a:ea typeface="Times New Roman"/>
                <a:cs typeface="Times New Roman"/>
                <a:sym typeface="Times New Roman"/>
              </a:rPr>
              <a:t>All Chat 	       : No</a:t>
            </a:r>
            <a:endParaRPr sz="2000">
              <a:latin typeface="Times New Roman"/>
              <a:ea typeface="Times New Roman"/>
              <a:cs typeface="Times New Roman"/>
              <a:sym typeface="Times New Roman"/>
            </a:endParaRPr>
          </a:p>
          <a:p>
            <a:pPr indent="0" lvl="0" marL="0" rtl="0" algn="l">
              <a:lnSpc>
                <a:spcPct val="150000"/>
              </a:lnSpc>
              <a:spcBef>
                <a:spcPts val="0"/>
              </a:spcBef>
              <a:spcAft>
                <a:spcPts val="0"/>
              </a:spcAft>
              <a:buClr>
                <a:schemeClr val="dk1"/>
              </a:buClr>
              <a:buSzPts val="1100"/>
              <a:buFont typeface="Arial"/>
              <a:buNone/>
            </a:pPr>
            <a:r>
              <a:rPr lang="en-US" sz="2000">
                <a:latin typeface="Times New Roman"/>
                <a:ea typeface="Times New Roman"/>
                <a:cs typeface="Times New Roman"/>
                <a:sym typeface="Times New Roman"/>
              </a:rPr>
              <a:t>Radio All 	       : No</a:t>
            </a:r>
            <a:endParaRPr sz="2000">
              <a:latin typeface="Times New Roman"/>
              <a:ea typeface="Times New Roman"/>
              <a:cs typeface="Times New Roman"/>
              <a:sym typeface="Times New Roman"/>
            </a:endParaRPr>
          </a:p>
          <a:p>
            <a:pPr indent="0" lvl="0" marL="0" rtl="0" algn="l">
              <a:lnSpc>
                <a:spcPct val="150000"/>
              </a:lnSpc>
              <a:spcBef>
                <a:spcPts val="0"/>
              </a:spcBef>
              <a:spcAft>
                <a:spcPts val="0"/>
              </a:spcAft>
              <a:buClr>
                <a:schemeClr val="dk1"/>
              </a:buClr>
              <a:buSzPts val="1100"/>
              <a:buFont typeface="Arial"/>
              <a:buNone/>
            </a:pPr>
            <a:r>
              <a:rPr lang="en-US" sz="2000">
                <a:latin typeface="Times New Roman"/>
                <a:ea typeface="Times New Roman"/>
                <a:cs typeface="Times New Roman"/>
                <a:sym typeface="Times New Roman"/>
              </a:rPr>
              <a:t>Taunting		       :Yes</a:t>
            </a:r>
            <a:endParaRPr sz="2000">
              <a:latin typeface="Times New Roman"/>
              <a:ea typeface="Times New Roman"/>
              <a:cs typeface="Times New Roman"/>
              <a:sym typeface="Times New Roman"/>
            </a:endParaRPr>
          </a:p>
          <a:p>
            <a:pPr indent="0" lvl="0" marL="0" rtl="0" algn="l">
              <a:lnSpc>
                <a:spcPct val="150000"/>
              </a:lnSpc>
              <a:spcBef>
                <a:spcPts val="0"/>
              </a:spcBef>
              <a:spcAft>
                <a:spcPts val="0"/>
              </a:spcAft>
              <a:buClr>
                <a:schemeClr val="dk1"/>
              </a:buClr>
              <a:buSzPts val="1100"/>
              <a:buFont typeface="Arial"/>
              <a:buNone/>
            </a:pPr>
            <a:r>
              <a:rPr lang="en-US" sz="2000">
                <a:latin typeface="Times New Roman"/>
                <a:ea typeface="Times New Roman"/>
                <a:cs typeface="Times New Roman"/>
                <a:sym typeface="Times New Roman"/>
              </a:rPr>
              <a:t>Pause		       : No (Kecuali Semi Final sampai Final)</a:t>
            </a:r>
            <a:endParaRPr sz="2000">
              <a:latin typeface="Times New Roman"/>
              <a:ea typeface="Times New Roman"/>
              <a:cs typeface="Times New Roman"/>
              <a:sym typeface="Times New Roman"/>
            </a:endParaRPr>
          </a:p>
          <a:p>
            <a:pPr indent="0" lvl="0" marL="0" rtl="0" algn="l">
              <a:lnSpc>
                <a:spcPct val="150000"/>
              </a:lnSpc>
              <a:spcBef>
                <a:spcPts val="0"/>
              </a:spcBef>
              <a:spcAft>
                <a:spcPts val="0"/>
              </a:spcAft>
              <a:buClr>
                <a:schemeClr val="dk1"/>
              </a:buClr>
              <a:buSzPts val="1100"/>
              <a:buFont typeface="Arial"/>
              <a:buNone/>
            </a:pPr>
            <a:r>
              <a:rPr lang="en-US" sz="2000">
                <a:latin typeface="Times New Roman"/>
                <a:ea typeface="Times New Roman"/>
                <a:cs typeface="Times New Roman"/>
                <a:sym typeface="Times New Roman"/>
              </a:rPr>
              <a:t>Room Kustom   : Ban/Pick Normal</a:t>
            </a:r>
            <a:endParaRPr sz="2000">
              <a:latin typeface="Times New Roman"/>
              <a:ea typeface="Times New Roman"/>
              <a:cs typeface="Times New Roman"/>
              <a:sym typeface="Times New Roman"/>
            </a:endParaRPr>
          </a:p>
          <a:p>
            <a:pPr indent="0" lvl="0" marL="0" marR="5080" rtl="0" algn="l">
              <a:lnSpc>
                <a:spcPct val="104000"/>
              </a:lnSpc>
              <a:spcBef>
                <a:spcPts val="1020"/>
              </a:spcBef>
              <a:spcAft>
                <a:spcPts val="0"/>
              </a:spcAft>
              <a:buClr>
                <a:schemeClr val="dk1"/>
              </a:buClr>
              <a:buSzPts val="1100"/>
              <a:buFont typeface="Arial"/>
              <a:buNone/>
            </a:pPr>
            <a:r>
              <a:rPr lang="en-US" sz="2000">
                <a:solidFill>
                  <a:srgbClr val="252525"/>
                </a:solidFill>
                <a:latin typeface="Times New Roman"/>
                <a:ea typeface="Times New Roman"/>
                <a:cs typeface="Times New Roman"/>
                <a:sym typeface="Times New Roman"/>
              </a:rPr>
              <a:t>Maksimal pause adalah 2 kali 2 menit untuk setiap tim per match</a:t>
            </a:r>
            <a:endParaRPr sz="2000">
              <a:solidFill>
                <a:srgbClr val="252525"/>
              </a:solidFill>
              <a:latin typeface="Times New Roman"/>
              <a:ea typeface="Times New Roman"/>
              <a:cs typeface="Times New Roman"/>
              <a:sym typeface="Times New Roman"/>
            </a:endParaRPr>
          </a:p>
          <a:p>
            <a:pPr indent="0" lvl="0" marL="0" rtl="0" algn="l">
              <a:spcBef>
                <a:spcPts val="675"/>
              </a:spcBef>
              <a:spcAft>
                <a:spcPts val="0"/>
              </a:spcAft>
              <a:buClr>
                <a:schemeClr val="dk1"/>
              </a:buClr>
              <a:buSzPts val="1100"/>
              <a:buFont typeface="Arial"/>
              <a:buNone/>
            </a:pPr>
            <a:r>
              <a:rPr lang="en-US" sz="2000">
                <a:solidFill>
                  <a:srgbClr val="252525"/>
                </a:solidFill>
                <a:latin typeface="Times New Roman"/>
                <a:ea typeface="Times New Roman"/>
                <a:cs typeface="Times New Roman"/>
                <a:sym typeface="Times New Roman"/>
              </a:rPr>
              <a:t>Peserta pada bracket atas menempati first pick ( biru lobby )</a:t>
            </a:r>
            <a:endParaRPr sz="2000">
              <a:solidFill>
                <a:srgbClr val="252525"/>
              </a:solidFill>
              <a:latin typeface="Times New Roman"/>
              <a:ea typeface="Times New Roman"/>
              <a:cs typeface="Times New Roman"/>
              <a:sym typeface="Times New Roman"/>
            </a:endParaRPr>
          </a:p>
          <a:p>
            <a:pPr indent="0" lvl="0" marL="0" rtl="0" algn="l">
              <a:spcBef>
                <a:spcPts val="675"/>
              </a:spcBef>
              <a:spcAft>
                <a:spcPts val="0"/>
              </a:spcAft>
              <a:buClr>
                <a:schemeClr val="dk1"/>
              </a:buClr>
              <a:buSzPts val="1100"/>
              <a:buFont typeface="Arial"/>
              <a:buNone/>
            </a:pPr>
            <a:r>
              <a:rPr lang="en-US" sz="2000">
                <a:solidFill>
                  <a:srgbClr val="252525"/>
                </a:solidFill>
                <a:latin typeface="Times New Roman"/>
                <a:ea typeface="Times New Roman"/>
                <a:cs typeface="Times New Roman"/>
                <a:sym typeface="Times New Roman"/>
              </a:rPr>
              <a:t>Kualifikasi sampai final BAN 8</a:t>
            </a:r>
            <a:endParaRPr sz="2000">
              <a:solidFill>
                <a:srgbClr val="252525"/>
              </a:solidFill>
              <a:latin typeface="Times New Roman"/>
              <a:ea typeface="Times New Roman"/>
              <a:cs typeface="Times New Roman"/>
              <a:sym typeface="Times New Roman"/>
            </a:endParaRPr>
          </a:p>
          <a:p>
            <a:pPr indent="0" lvl="0" marL="0" rtl="0" algn="l">
              <a:spcBef>
                <a:spcPts val="675"/>
              </a:spcBef>
              <a:spcAft>
                <a:spcPts val="0"/>
              </a:spcAft>
              <a:buClr>
                <a:schemeClr val="dk1"/>
              </a:buClr>
              <a:buSzPts val="1100"/>
              <a:buFont typeface="Arial"/>
              <a:buNone/>
            </a:pPr>
            <a:r>
              <a:rPr b="1" lang="en-US" sz="2000">
                <a:solidFill>
                  <a:srgbClr val="252525"/>
                </a:solidFill>
              </a:rPr>
              <a:t>JIKA PADA ACAK BAGAN, DAN BERTEMU LAWAN DARI SATU SEKOLAH YANG SAMA MAKA TIDAK ADA PENGULANGAN ACAK BAGAN DAN HARUS DITERIMA</a:t>
            </a:r>
            <a:endParaRPr b="1" sz="2000">
              <a:solidFill>
                <a:srgbClr val="252525"/>
              </a:solidFill>
            </a:endParaRPr>
          </a:p>
          <a:p>
            <a:pPr indent="0" lvl="0" marL="0" rtl="0" algn="l">
              <a:spcBef>
                <a:spcPts val="675"/>
              </a:spcBef>
              <a:spcAft>
                <a:spcPts val="0"/>
              </a:spcAft>
              <a:buNone/>
            </a:pPr>
            <a:r>
              <a:t/>
            </a:r>
            <a:endParaRPr sz="2000">
              <a:latin typeface="Times New Roman"/>
              <a:ea typeface="Times New Roman"/>
              <a:cs typeface="Times New Roman"/>
              <a:sym typeface="Times New Roman"/>
            </a:endParaRPr>
          </a:p>
          <a:p>
            <a:pPr indent="0" lvl="0" marL="0" rtl="0" algn="l">
              <a:spcBef>
                <a:spcPts val="675"/>
              </a:spcBef>
              <a:spcAft>
                <a:spcPts val="0"/>
              </a:spcAft>
              <a:buNone/>
            </a:pPr>
            <a:r>
              <a:t/>
            </a:r>
            <a:endParaRPr sz="2000">
              <a:solidFill>
                <a:srgbClr val="252525"/>
              </a:solidFill>
              <a:latin typeface="Times New Roman"/>
              <a:ea typeface="Times New Roman"/>
              <a:cs typeface="Times New Roman"/>
              <a:sym typeface="Times New Roman"/>
            </a:endParaRPr>
          </a:p>
          <a:p>
            <a:pPr indent="0" lvl="0" marL="902335" rtl="0" algn="ctr">
              <a:lnSpc>
                <a:spcPct val="100000"/>
              </a:lnSpc>
              <a:spcBef>
                <a:spcPts val="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cfdd281804_0_0"/>
          <p:cNvSpPr txBox="1"/>
          <p:nvPr/>
        </p:nvSpPr>
        <p:spPr>
          <a:xfrm>
            <a:off x="2361060" y="921366"/>
            <a:ext cx="7729800" cy="12135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955" rtl="0" algn="ctr">
              <a:lnSpc>
                <a:spcPct val="100000"/>
              </a:lnSpc>
              <a:spcBef>
                <a:spcPts val="0"/>
              </a:spcBef>
              <a:spcAft>
                <a:spcPts val="0"/>
              </a:spcAft>
              <a:buClr>
                <a:srgbClr val="000000"/>
              </a:buClr>
              <a:buSzPts val="2800"/>
              <a:buFont typeface="Arial"/>
              <a:buNone/>
            </a:pPr>
            <a:r>
              <a:rPr b="1" i="0" lang="en-US" sz="2800" u="none" cap="none" strike="noStrike">
                <a:solidFill>
                  <a:srgbClr val="252525"/>
                </a:solidFill>
                <a:latin typeface="Times New Roman"/>
                <a:ea typeface="Times New Roman"/>
                <a:cs typeface="Times New Roman"/>
                <a:sym typeface="Times New Roman"/>
              </a:rPr>
              <a:t>TERIMAKASIH</a:t>
            </a:r>
            <a:endParaRPr/>
          </a:p>
          <a:p>
            <a:pPr indent="0" lvl="0" marL="0" marR="20955"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23" name="Google Shape;123;g3cfdd281804_0_0"/>
          <p:cNvSpPr txBox="1"/>
          <p:nvPr/>
        </p:nvSpPr>
        <p:spPr>
          <a:xfrm>
            <a:off x="2239675" y="2344393"/>
            <a:ext cx="7972500" cy="3243900"/>
          </a:xfrm>
          <a:prstGeom prst="rect">
            <a:avLst/>
          </a:prstGeom>
          <a:noFill/>
          <a:ln>
            <a:noFill/>
          </a:ln>
        </p:spPr>
        <p:txBody>
          <a:bodyPr anchorCtr="0" anchor="t" bIns="0" lIns="0" spcFirstLastPara="1" rIns="0" wrap="square" tIns="138425">
            <a:spAutoFit/>
          </a:bodyPr>
          <a:lstStyle/>
          <a:p>
            <a:pPr indent="0" lvl="0" marL="0" marR="0" rtl="0" algn="ctr">
              <a:lnSpc>
                <a:spcPct val="100000"/>
              </a:lnSpc>
              <a:spcBef>
                <a:spcPts val="0"/>
              </a:spcBef>
              <a:spcAft>
                <a:spcPts val="0"/>
              </a:spcAft>
              <a:buClr>
                <a:srgbClr val="000000"/>
              </a:buClr>
              <a:buSzPts val="3700"/>
              <a:buFont typeface="Arial"/>
              <a:buNone/>
            </a:pPr>
            <a:r>
              <a:rPr b="0" i="0" lang="en-US" sz="3700" u="none" cap="none" strike="noStrike">
                <a:solidFill>
                  <a:srgbClr val="252525"/>
                </a:solidFill>
                <a:latin typeface="Times New Roman"/>
                <a:ea typeface="Times New Roman"/>
                <a:cs typeface="Times New Roman"/>
                <a:sym typeface="Times New Roman"/>
              </a:rPr>
              <a:t>LOKASI DAN TANGGAL PERTANDINGAN :</a:t>
            </a:r>
            <a:endParaRPr b="0"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700"/>
              <a:buFont typeface="Arial"/>
              <a:buNone/>
            </a:pPr>
            <a:r>
              <a:t/>
            </a:r>
            <a:endParaRPr sz="3700">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i="0" lang="en-US" sz="3700" u="none" cap="none" strike="noStrike">
                <a:solidFill>
                  <a:srgbClr val="252525"/>
                </a:solidFill>
                <a:latin typeface="Times New Roman"/>
                <a:ea typeface="Times New Roman"/>
                <a:cs typeface="Times New Roman"/>
                <a:sym typeface="Times New Roman"/>
              </a:rPr>
              <a:t>GRAHA YOWANA SUCI</a:t>
            </a:r>
            <a:endParaRPr b="1"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lang="en-US" sz="3700">
                <a:solidFill>
                  <a:srgbClr val="252525"/>
                </a:solidFill>
                <a:latin typeface="Times New Roman"/>
                <a:ea typeface="Times New Roman"/>
                <a:cs typeface="Times New Roman"/>
                <a:sym typeface="Times New Roman"/>
              </a:rPr>
              <a:t>27 MARET 2026</a:t>
            </a:r>
            <a:endParaRPr b="1" sz="3700">
              <a:solidFill>
                <a:srgbClr val="252525"/>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2026-03-12T05:38:13Z</dcterms:created>
  <dc:creator>TSC-AKA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2026-02-26T00:00:00Z</vt:filetime>
  </property>
  <property fmtid="{D5CDD505-2E9C-101B-9397-08002B2CF9AE}" pid="3" name="Creator">
    <vt:lpwstr>WPS Presentation</vt:lpwstr>
  </property>
  <property fmtid="{D5CDD505-2E9C-101B-9397-08002B2CF9AE}" pid="4" name="LastSaved">
    <vt:filetime>2026-03-12T00:00:00Z</vt:filetime>
  </property>
  <property fmtid="{D5CDD505-2E9C-101B-9397-08002B2CF9AE}" pid="5" name="SourceModified">
    <vt:lpwstr>D:20260226210119+08'00'</vt:lpwstr>
  </property>
</Properties>
</file>