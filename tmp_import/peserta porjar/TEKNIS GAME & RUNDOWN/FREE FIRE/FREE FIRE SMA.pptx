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hVX2ASWgTwMBq/HD0r0DNDxdD8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C61E4F-A4FE-4C9B-9E67-73703FC61B5B}">
  <a:tblStyle styleId="{BAC61E4F-A4FE-4C9B-9E67-73703FC61B5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4"/>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4"/>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5"/>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7"/>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3531073" y="2590800"/>
            <a:ext cx="5129850"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SMA/SMK</a:t>
            </a:r>
            <a:endParaRPr sz="3800"/>
          </a:p>
        </p:txBody>
      </p:sp>
      <p:sp>
        <p:nvSpPr>
          <p:cNvPr id="45" name="Google Shape;45;p1"/>
          <p:cNvSpPr txBox="1"/>
          <p:nvPr/>
        </p:nvSpPr>
        <p:spPr>
          <a:xfrm>
            <a:off x="4166550" y="1432309"/>
            <a:ext cx="3858896"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400">
                <a:solidFill>
                  <a:srgbClr val="404040"/>
                </a:solidFill>
                <a:latin typeface="Trebuchet MS"/>
                <a:ea typeface="Trebuchet MS"/>
                <a:cs typeface="Trebuchet MS"/>
                <a:sym typeface="Trebuchet MS"/>
              </a:rPr>
              <a:t>FREE FIRE</a:t>
            </a:r>
            <a:endParaRPr sz="4400">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5" cy="4920193"/>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803" cy="4766498"/>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2297099" y="1371600"/>
            <a:ext cx="7758000" cy="51129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peserta bermain menggunakan ID lain tanpa konfirmasi ke panitia, maka peserta bisa didiskualifikasi.</a:t>
            </a:r>
            <a:endParaRPr>
              <a:solidFill>
                <a:schemeClr val="dk1"/>
              </a:solidFill>
            </a:endParaRPr>
          </a:p>
          <a:p>
            <a:pPr indent="-342900" lvl="0" marL="355600" marR="5080" rtl="0" algn="just">
              <a:lnSpc>
                <a:spcPct val="103899"/>
              </a:lnSpc>
              <a:spcBef>
                <a:spcPts val="110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solidFill>
                <a:schemeClr val="dk1"/>
              </a:solidFill>
            </a:endParaRPr>
          </a:p>
          <a:p>
            <a:pPr indent="-342900" lvl="0" marL="355600" marR="717550" rtl="0" algn="l">
              <a:lnSpc>
                <a:spcPct val="100800"/>
              </a:lnSpc>
              <a:spcBef>
                <a:spcPts val="108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ketahuan menggunakan bug secara sengaja oleh pihak panitia maka peserta tersebut akan di diskualifikasi.</a:t>
            </a:r>
            <a:endParaRPr>
              <a:solidFill>
                <a:schemeClr val="dk1"/>
              </a:solidFill>
            </a:endParaRPr>
          </a:p>
          <a:p>
            <a:pPr indent="-342900" lvl="0" marL="355600" marR="202565" rtl="0" algn="l">
              <a:lnSpc>
                <a:spcPct val="115900"/>
              </a:lnSpc>
              <a:spcBef>
                <a:spcPts val="62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berhak mendiskualifikasi pemain yang bertindak kasar atau tidak sopan terhadap sesama player atau panitia</a:t>
            </a:r>
            <a:endParaRPr>
              <a:solidFill>
                <a:schemeClr val="dk1"/>
              </a:solidFill>
            </a:endParaRPr>
          </a:p>
          <a:p>
            <a:pPr indent="-342900" lvl="0" marL="355600" marR="274955" rtl="0" algn="l">
              <a:lnSpc>
                <a:spcPct val="106000"/>
              </a:lnSpc>
              <a:spcBef>
                <a:spcPts val="106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Pelanggaran Format Turnamen akan diberikan 1x peringatan, jika mendapatkan 2x peringatan akan terkena pengurangan point sebesar (-20) dan untuk peringatan 3x akan dikeluarkan dari area pertandingan pada Match yang sedang berlangsung.</a:t>
            </a:r>
            <a:endParaRPr>
              <a:solidFill>
                <a:schemeClr val="dk1"/>
              </a:solidFill>
            </a:endParaRPr>
          </a:p>
          <a:p>
            <a:pPr indent="-342900" lvl="0" marL="355600" rtl="0" algn="l">
              <a:spcBef>
                <a:spcPts val="149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Peserta dilarang bermain pada lebih dari satu tim.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3481200"/>
          </a:xfrm>
          <a:prstGeom prst="rect">
            <a:avLst/>
          </a:prstGeom>
          <a:noFill/>
          <a:ln>
            <a:noFill/>
          </a:ln>
        </p:spPr>
        <p:txBody>
          <a:bodyPr anchorCtr="0" anchor="t" bIns="0" lIns="0" spcFirstLastPara="1" rIns="0" wrap="square" tIns="67925">
            <a:spAutoFit/>
          </a:bodyPr>
          <a:lstStyle/>
          <a:p>
            <a:pPr indent="-342900" lvl="0" marL="457200" marR="636905" rtl="0" algn="l">
              <a:lnSpc>
                <a:spcPct val="105800"/>
              </a:lnSpc>
              <a:spcBef>
                <a:spcPts val="309"/>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solidFill>
                <a:schemeClr val="dk1"/>
              </a:solidFill>
              <a:latin typeface="Trebuchet MS"/>
              <a:ea typeface="Trebuchet MS"/>
              <a:cs typeface="Trebuchet MS"/>
              <a:sym typeface="Trebuchet MS"/>
            </a:endParaRPr>
          </a:p>
          <a:p>
            <a:pPr indent="-336550" lvl="0" marL="457200"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solidFill>
                  <a:schemeClr val="dk1"/>
                </a:solidFill>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solidFill>
                <a:schemeClr val="dk1"/>
              </a:solidFill>
              <a:latin typeface="Trebuchet MS"/>
              <a:ea typeface="Trebuchet MS"/>
              <a:cs typeface="Trebuchet MS"/>
              <a:sym typeface="Trebuchet MS"/>
            </a:endParaRPr>
          </a:p>
          <a:p>
            <a:pPr indent="-336550" lvl="0" marL="4572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Jika pada pengacakan pot bertemu dengan 1 sekolah yang sama, maka tidak ada pengulangan acak</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Peserta dilarang melakukan tindakan joki</a:t>
            </a:r>
            <a:endParaRPr sz="1800">
              <a:solidFill>
                <a:srgbClr val="22222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95" name="Google Shape;95;p8"/>
          <p:cNvSpPr txBox="1"/>
          <p:nvPr/>
        </p:nvSpPr>
        <p:spPr>
          <a:xfrm>
            <a:off x="2215895" y="1823592"/>
            <a:ext cx="7760400" cy="4168800"/>
          </a:xfrm>
          <a:prstGeom prst="rect">
            <a:avLst/>
          </a:prstGeom>
          <a:noFill/>
          <a:ln>
            <a:noFill/>
          </a:ln>
        </p:spPr>
        <p:txBody>
          <a:bodyPr anchorCtr="0" anchor="t" bIns="0" lIns="0" spcFirstLastPara="1" rIns="0" wrap="square" tIns="12700">
            <a:spAutoFit/>
          </a:bodyPr>
          <a:lstStyle/>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Berkata kasar dan sara : -20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Teaming : -10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Cheat : diskualifikasi</a:t>
            </a:r>
            <a:endParaRPr sz="4500">
              <a:solidFill>
                <a:schemeClr val="dk1"/>
              </a:solidFill>
              <a:latin typeface="Trebuchet MS"/>
              <a:ea typeface="Trebuchet MS"/>
              <a:cs typeface="Trebuchet MS"/>
              <a:sym typeface="Trebuchet MS"/>
            </a:endParaRPr>
          </a:p>
          <a:p>
            <a:pPr indent="-273050" lvl="0" marL="457200" rtl="0" algn="l">
              <a:spcBef>
                <a:spcPts val="0"/>
              </a:spcBef>
              <a:spcAft>
                <a:spcPts val="0"/>
              </a:spcAft>
              <a:buClr>
                <a:srgbClr val="9BACB5"/>
              </a:buClr>
              <a:buSzPts val="700"/>
              <a:buFont typeface="Trebuchet MS"/>
              <a:buChar char="•"/>
            </a:pPr>
            <a:r>
              <a:rPr lang="en-US" sz="2700">
                <a:solidFill>
                  <a:schemeClr val="dk1"/>
                </a:solidFill>
                <a:latin typeface="Trebuchet MS"/>
                <a:ea typeface="Trebuchet MS"/>
                <a:cs typeface="Trebuchet MS"/>
                <a:sym typeface="Trebuchet MS"/>
              </a:rPr>
              <a:t>INDIKASI ANARKIS (MEMUKUL MEJA, MENENDANG KURSI DLL)- 15</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Kerusakan properti merupakan tanggung jawab peserta</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Tindakan Joki : Diskualifikasi</a:t>
            </a:r>
            <a:endParaRPr sz="48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02" name="Google Shape;102;p9"/>
          <p:cNvSpPr txBox="1"/>
          <p:nvPr>
            <p:ph idx="1" type="body"/>
          </p:nvPr>
        </p:nvSpPr>
        <p:spPr>
          <a:xfrm>
            <a:off x="573023" y="1756322"/>
            <a:ext cx="11113008" cy="418928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07000"/>
              </a:lnSpc>
              <a:spcBef>
                <a:spcPts val="0"/>
              </a:spcBef>
              <a:spcAft>
                <a:spcPts val="0"/>
              </a:spcAft>
              <a:buClr>
                <a:schemeClr val="dk1"/>
              </a:buClr>
              <a:buSzPct val="108000"/>
              <a:buFont typeface="Calibri"/>
              <a:buNone/>
            </a:pPr>
            <a:r>
              <a:t/>
            </a:r>
            <a:endParaRPr sz="1800">
              <a:latin typeface="Calibri"/>
              <a:ea typeface="Calibri"/>
              <a:cs typeface="Calibri"/>
              <a:sym typeface="Calibri"/>
            </a:endParaRPr>
          </a:p>
          <a:p>
            <a:pPr indent="-342900" lvl="0" marL="342900" rtl="0" algn="just">
              <a:lnSpc>
                <a:spcPct val="107000"/>
              </a:lnSpc>
              <a:spcBef>
                <a:spcPts val="18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Server 			: Online Server Indonesia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Mode 			: Battle Royal </a:t>
            </a:r>
            <a:r>
              <a:rPr lang="en-US" sz="2200">
                <a:latin typeface="Times New Roman"/>
                <a:ea typeface="Times New Roman"/>
                <a:cs typeface="Times New Roman"/>
                <a:sym typeface="Times New Roman"/>
              </a:rPr>
              <a:t>( Bermuda, Nextera, Alpine, Purgatory, Kalahari, Solara)</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Gun Properties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Revival Point 		: ON</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Mission System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Kualifikasi </a:t>
            </a:r>
            <a:r>
              <a:rPr lang="en-US"/>
              <a:t>		: 6 POT ( 2 MAP – 4 TEAM TERATAS SEMI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t>Semifinal 			: 2 POT (6 TIM TERATAS DARI KUALIF LOLOS KE SEMIFINAL)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Final				: 6 TIM TERATAS TIAP POT SEMI FINAL LOLOS KE FINAL</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Room			: CR LIGA (FINAL)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10"/>
          <p:cNvSpPr txBox="1"/>
          <p:nvPr>
            <p:ph type="title"/>
          </p:nvPr>
        </p:nvSpPr>
        <p:spPr>
          <a:xfrm>
            <a:off x="2514600" y="1082663"/>
            <a:ext cx="6060059" cy="566822"/>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None/>
            </a:pPr>
            <a:r>
              <a:rPr lang="en-US"/>
              <a:t>SISTEM POINT</a:t>
            </a:r>
            <a:endParaRPr/>
          </a:p>
        </p:txBody>
      </p:sp>
      <p:graphicFrame>
        <p:nvGraphicFramePr>
          <p:cNvPr id="109" name="Google Shape;109;p10"/>
          <p:cNvGraphicFramePr/>
          <p:nvPr/>
        </p:nvGraphicFramePr>
        <p:xfrm>
          <a:off x="1219200" y="2590800"/>
          <a:ext cx="3000000" cy="3000000"/>
        </p:xfrm>
        <a:graphic>
          <a:graphicData uri="http://schemas.openxmlformats.org/drawingml/2006/table">
            <a:tbl>
              <a:tblPr>
                <a:noFill/>
                <a:tableStyleId>{BAC61E4F-A4FE-4C9B-9E67-73703FC61B5B}</a:tableStyleId>
              </a:tblPr>
              <a:tblGrid>
                <a:gridCol w="2403475"/>
                <a:gridCol w="2403475"/>
                <a:gridCol w="2403475"/>
                <a:gridCol w="2403475"/>
              </a:tblGrid>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SISTEM POINT</a:t>
                      </a:r>
                      <a:endParaRPr b="1" sz="1800" u="none" cap="none" strike="noStrike"/>
                    </a:p>
                  </a:txBody>
                  <a:tcPr marT="45725" marB="45725" marR="91450" marL="91450">
                    <a:solidFill>
                      <a:srgbClr val="538CD5"/>
                    </a:solidFill>
                  </a:tcPr>
                </a:tc>
                <a:tc hMerge="1"/>
                <a:tc hMerge="1"/>
                <a:tc hMerge="1"/>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KILL POINT</a:t>
                      </a:r>
                      <a:endParaRPr b="1" sz="1800" u="none" cap="none" strike="noStrike"/>
                    </a:p>
                  </a:txBody>
                  <a:tcPr marT="45725" marB="45725" marR="91450" marL="91450">
                    <a:solidFill>
                      <a:srgbClr val="538CD5"/>
                    </a:solidFill>
                  </a:tcPr>
                </a:tc>
                <a:tc hMerge="1"/>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hMerge="1"/>
              </a:tr>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PLACEMENT POINT</a:t>
                      </a:r>
                      <a:endParaRPr b="1" sz="1800" u="none" cap="none" strike="noStrike"/>
                    </a:p>
                  </a:txBody>
                  <a:tcPr marT="45725" marB="45725" marR="91450" marL="91450">
                    <a:solidFill>
                      <a:srgbClr val="538CD5"/>
                    </a:solidFill>
                  </a:tcPr>
                </a:tc>
                <a:tc hMerge="1"/>
                <a:tc hMerge="1"/>
                <a:tc hMerge="1"/>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10</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38400" y="914400"/>
            <a:ext cx="7355459" cy="894842"/>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SISTEM POINT</a:t>
            </a:r>
            <a:endParaRPr/>
          </a:p>
        </p:txBody>
      </p:sp>
      <p:sp>
        <p:nvSpPr>
          <p:cNvPr id="115" name="Google Shape;115;p11"/>
          <p:cNvSpPr txBox="1"/>
          <p:nvPr>
            <p:ph idx="1" type="body"/>
          </p:nvPr>
        </p:nvSpPr>
        <p:spPr>
          <a:xfrm>
            <a:off x="1264729" y="2209800"/>
            <a:ext cx="9702800" cy="332867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Item tambahan ingame seperti loadout, slot character skill, dll diperbolehkan</a:t>
            </a:r>
            <a:endParaRPr>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Skill aktif tidak boleh sama </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Tim hanya diizinkan untuk bermain dengan pemain yang telah didaftarkan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terdapat point yang sama maka penentu adalah Booyah terbanyak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tidak ada Booyah maka akan dihitung melalui kill terbanyak apabila masih seimbang maka akan diambil dari placement teratas pada map terakhir.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2"/>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29 - 30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